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73" r:id="rId4"/>
    <p:sldId id="274" r:id="rId5"/>
    <p:sldId id="269" r:id="rId6"/>
    <p:sldId id="268" r:id="rId7"/>
    <p:sldId id="270" r:id="rId8"/>
    <p:sldId id="271" r:id="rId9"/>
    <p:sldId id="266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86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809ED0-CAD5-44E1-91E8-3616676F7223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6C633B-D051-4BE3-A8CB-7736F551B5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0774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6C633B-D051-4BE3-A8CB-7736F551B52D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2552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6C633B-D051-4BE3-A8CB-7736F551B52D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4506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6C633B-D051-4BE3-A8CB-7736F551B52D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0526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6C633B-D051-4BE3-A8CB-7736F551B52D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7946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6C633B-D051-4BE3-A8CB-7736F551B52D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877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2048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738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299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9318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828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2881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331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5027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6804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7234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2127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B4F739-B7D4-4EFD-BF14-44542778AB9F}" type="datetimeFigureOut">
              <a:rPr lang="fr-FR" smtClean="0"/>
              <a:t>17/01/2025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9916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025762" y="401707"/>
            <a:ext cx="8524047" cy="941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ar-DZ" sz="4800" b="1" u="sng" dirty="0" smtClean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تغذية </a:t>
            </a:r>
            <a:r>
              <a:rPr lang="ar-DZ" sz="4800" b="1" u="sng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راجعة : </a:t>
            </a:r>
            <a:endParaRPr lang="fr-FR" sz="4800" b="1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85800" y="1688515"/>
            <a:ext cx="11106150" cy="17286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r" rtl="1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ar-SA" sz="4400" b="1" dirty="0" smtClean="0">
                <a:cs typeface="+mj-cs"/>
              </a:rPr>
              <a:t>كيف </a:t>
            </a:r>
            <a:r>
              <a:rPr lang="ar-SA" sz="4400" b="1" dirty="0">
                <a:cs typeface="+mj-cs"/>
              </a:rPr>
              <a:t>يمكننا دمج خلايا لتصبح خلية واحدة</a:t>
            </a: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؟</a:t>
            </a:r>
            <a:endParaRPr lang="ar-DZ" sz="4400" b="1" dirty="0">
              <a:latin typeface="Calibri" panose="020F0502020204030204" pitchFamily="34" charset="0"/>
              <a:cs typeface="+mj-cs"/>
            </a:endParaRPr>
          </a:p>
          <a:p>
            <a:pPr marL="571500" indent="-571500" algn="r" rtl="1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ar-SA" sz="4400" b="1" dirty="0" smtClean="0">
                <a:cs typeface="+mj-cs"/>
              </a:rPr>
              <a:t>كيف </a:t>
            </a:r>
            <a:r>
              <a:rPr lang="ar-SA" sz="4400" b="1" dirty="0">
                <a:cs typeface="+mj-cs"/>
              </a:rPr>
              <a:t>يمكننا تقسيم خلية إلى عدّة </a:t>
            </a:r>
            <a:r>
              <a:rPr lang="ar-SA" sz="4400" b="1" dirty="0" smtClean="0">
                <a:cs typeface="+mj-cs"/>
              </a:rPr>
              <a:t>خلايا</a:t>
            </a:r>
            <a:r>
              <a:rPr lang="ar-DZ" sz="4400" b="1" dirty="0" smtClean="0">
                <a:cs typeface="+mj-cs"/>
              </a:rPr>
              <a:t> ؟</a:t>
            </a:r>
            <a:endParaRPr lang="fr-FR" sz="4400" b="1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45848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684"/>
            <a:ext cx="12191999" cy="755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ar-DZ" sz="4000" b="1" u="sng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الوضعية </a:t>
            </a:r>
            <a:r>
              <a:rPr lang="ar-DZ" sz="4000" b="1" u="sng" dirty="0" err="1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الإنطلاقية</a:t>
            </a:r>
            <a:r>
              <a:rPr lang="ar-DZ" sz="4000" b="1" u="sng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32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4209" y="698914"/>
            <a:ext cx="8795045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ar-DZ" sz="4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إليك الجداول </a:t>
            </a:r>
            <a:r>
              <a:rPr lang="ar-DZ" sz="40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التالية :</a:t>
            </a:r>
            <a:endParaRPr lang="fr-FR" sz="40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74424" y="5250764"/>
            <a:ext cx="1207367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r" rtl="1"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ar-DZ" sz="36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ماذا </a:t>
            </a:r>
            <a:r>
              <a:rPr lang="ar-DZ" sz="3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تلاحظ ؟ </a:t>
            </a:r>
          </a:p>
        </p:txBody>
      </p:sp>
      <p:pic>
        <p:nvPicPr>
          <p:cNvPr id="7" name="Image 6"/>
          <p:cNvPicPr/>
          <p:nvPr/>
        </p:nvPicPr>
        <p:blipFill>
          <a:blip r:embed="rId3"/>
          <a:stretch>
            <a:fillRect/>
          </a:stretch>
        </p:blipFill>
        <p:spPr>
          <a:xfrm>
            <a:off x="8144996" y="1624762"/>
            <a:ext cx="3757773" cy="2727560"/>
          </a:xfrm>
          <a:prstGeom prst="rect">
            <a:avLst/>
          </a:prstGeom>
        </p:spPr>
      </p:pic>
      <p:pic>
        <p:nvPicPr>
          <p:cNvPr id="9" name="Image 8"/>
          <p:cNvPicPr/>
          <p:nvPr/>
        </p:nvPicPr>
        <p:blipFill>
          <a:blip r:embed="rId4"/>
          <a:stretch>
            <a:fillRect/>
          </a:stretch>
        </p:blipFill>
        <p:spPr>
          <a:xfrm>
            <a:off x="4095296" y="1624762"/>
            <a:ext cx="3895763" cy="2727560"/>
          </a:xfrm>
          <a:prstGeom prst="rect">
            <a:avLst/>
          </a:prstGeom>
        </p:spPr>
      </p:pic>
      <p:pic>
        <p:nvPicPr>
          <p:cNvPr id="10" name="Image 9"/>
          <p:cNvPicPr/>
          <p:nvPr/>
        </p:nvPicPr>
        <p:blipFill>
          <a:blip r:embed="rId5"/>
          <a:stretch>
            <a:fillRect/>
          </a:stretch>
        </p:blipFill>
        <p:spPr>
          <a:xfrm>
            <a:off x="132521" y="1651266"/>
            <a:ext cx="3808838" cy="272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8391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684"/>
            <a:ext cx="12191999" cy="755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ar-DZ" sz="4000" b="1" u="sng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الوضعية </a:t>
            </a:r>
            <a:r>
              <a:rPr lang="ar-DZ" sz="4000" b="1" u="sng" dirty="0" err="1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الإنطلاقية</a:t>
            </a:r>
            <a:r>
              <a:rPr lang="ar-DZ" sz="4000" b="1" u="sng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32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7043529" y="4895858"/>
            <a:ext cx="2186609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DZ" sz="4400" b="1" dirty="0">
                <a:solidFill>
                  <a:srgbClr val="00B0F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(الحدود</a:t>
            </a:r>
            <a:r>
              <a:rPr lang="ar-DZ" sz="4400" b="1" dirty="0" smtClean="0">
                <a:solidFill>
                  <a:srgbClr val="00B0F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ar-DZ" sz="4400" b="1" dirty="0">
              <a:solidFill>
                <a:srgbClr val="00B0F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 flipH="1">
            <a:off x="6427304" y="1467254"/>
            <a:ext cx="526926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indent="-457200" algn="r" rtl="1">
              <a:buFont typeface="Wingdings" panose="05000000000000000000" pitchFamily="2" charset="2"/>
              <a:buChar char="§"/>
            </a:pPr>
            <a:r>
              <a:rPr lang="ar-DZ" sz="3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كيف نسمي خطوط الجدول ؟ 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4386470" y="3123156"/>
            <a:ext cx="7310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r" rtl="1">
              <a:buFont typeface="Wingdings" panose="05000000000000000000" pitchFamily="2" charset="2"/>
              <a:buChar char="§"/>
            </a:pPr>
            <a:r>
              <a:rPr lang="ar-DZ" sz="3600" b="1" dirty="0">
                <a:cs typeface="+mj-cs"/>
              </a:rPr>
              <a:t>ا</a:t>
            </a:r>
            <a:r>
              <a:rPr lang="ar-DZ" sz="3600" b="1" dirty="0" smtClean="0">
                <a:cs typeface="+mj-cs"/>
              </a:rPr>
              <a:t>تصل </a:t>
            </a:r>
            <a:r>
              <a:rPr lang="ar-DZ" sz="3600" b="1" dirty="0" smtClean="0">
                <a:cs typeface="+mj-cs"/>
              </a:rPr>
              <a:t>بالرقم </a:t>
            </a:r>
            <a:r>
              <a:rPr lang="ar-DZ" sz="3600" b="1" dirty="0" smtClean="0">
                <a:cs typeface="+mj-cs"/>
              </a:rPr>
              <a:t>لتتعرف </a:t>
            </a:r>
            <a:r>
              <a:rPr lang="ar-DZ" sz="3600" b="1" dirty="0" smtClean="0">
                <a:cs typeface="+mj-cs"/>
              </a:rPr>
              <a:t>على </a:t>
            </a:r>
            <a:r>
              <a:rPr lang="ar-DZ" sz="3600" b="1" dirty="0" smtClean="0">
                <a:cs typeface="+mj-cs"/>
              </a:rPr>
              <a:t>الإجابة 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067393</a:t>
            </a:r>
            <a:endParaRPr lang="fr-FR" sz="3600" b="1" dirty="0">
              <a:solidFill>
                <a:srgbClr val="FF0000"/>
              </a:solidFill>
              <a:cs typeface="+mj-cs"/>
            </a:endParaRP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44" y="930631"/>
            <a:ext cx="3770847" cy="555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3832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684"/>
            <a:ext cx="12191999" cy="755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ar-DZ" sz="4000" b="1" u="sng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الوضعية </a:t>
            </a:r>
            <a:r>
              <a:rPr lang="ar-DZ" sz="4000" b="1" u="sng" dirty="0" err="1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الإنطلاقية</a:t>
            </a:r>
            <a:r>
              <a:rPr lang="ar-DZ" sz="4000" b="1" u="sng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32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 flipH="1">
            <a:off x="6427304" y="1467254"/>
            <a:ext cx="526926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indent="-457200" algn="r" rtl="1">
              <a:buFont typeface="Wingdings" panose="05000000000000000000" pitchFamily="2" charset="2"/>
              <a:buChar char="§"/>
            </a:pPr>
            <a:r>
              <a:rPr lang="ar-DZ" sz="3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كيف نسمي </a:t>
            </a:r>
            <a:r>
              <a:rPr lang="ar-DZ" sz="36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الحدود بالفرنسية ؟ </a:t>
            </a:r>
            <a:endParaRPr lang="ar-DZ" sz="3600" b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4386470" y="3123156"/>
            <a:ext cx="7310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r" rtl="1">
              <a:buFont typeface="Wingdings" panose="05000000000000000000" pitchFamily="2" charset="2"/>
              <a:buChar char="§"/>
            </a:pPr>
            <a:r>
              <a:rPr lang="ar-DZ" sz="3600" b="1" dirty="0" smtClean="0">
                <a:cs typeface="+mj-cs"/>
              </a:rPr>
              <a:t>حل المتاهة لتتعرف على الإجابة</a:t>
            </a:r>
            <a:endParaRPr lang="fr-FR" sz="3600" b="1" dirty="0">
              <a:cs typeface="+mj-cs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52" y="760931"/>
            <a:ext cx="6144805" cy="537078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7189303" y="4922362"/>
            <a:ext cx="3372680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fr-FR" sz="4400" b="1" dirty="0" smtClean="0">
                <a:solidFill>
                  <a:srgbClr val="00B0F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(BORDURES)</a:t>
            </a:r>
            <a:endParaRPr lang="ar-DZ" sz="4400" b="1" dirty="0">
              <a:solidFill>
                <a:srgbClr val="00B0F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3106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496" y="2684"/>
            <a:ext cx="12182504" cy="755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ar-DZ" sz="4000" b="1" u="sng" dirty="0" smtClean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النشاط 01 </a:t>
            </a:r>
            <a:r>
              <a:rPr lang="ar-DZ" sz="4000" b="1" u="sng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32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7391" y="4250038"/>
            <a:ext cx="11966713" cy="22006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r" rtl="1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ar-DZ" sz="28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انطلاقا </a:t>
            </a:r>
            <a:r>
              <a:rPr lang="ar-DZ" sz="28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من الجدول 1 نريد الحصول على الجدول 2</a:t>
            </a:r>
          </a:p>
          <a:p>
            <a:pPr marL="457200" indent="-457200" algn="r" rtl="1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ar-DZ" sz="28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قم </a:t>
            </a:r>
            <a:r>
              <a:rPr lang="ar-DZ" sz="28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بإدراج الجدول 1 و جد طريقة لتنسيق حدوده في التبويب </a:t>
            </a:r>
            <a:r>
              <a:rPr lang="fr-FR" sz="28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Création</a:t>
            </a:r>
            <a:r>
              <a:rPr lang="ar-DZ" sz="28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ليصبح </a:t>
            </a:r>
            <a:r>
              <a:rPr lang="ar-DZ" sz="28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مثل الجدول 2</a:t>
            </a:r>
          </a:p>
          <a:p>
            <a:pPr marL="457200" indent="-457200" algn="r" rtl="1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ar-DZ" sz="28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ما </a:t>
            </a:r>
            <a:r>
              <a:rPr lang="ar-DZ" sz="28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دور كل من : </a:t>
            </a:r>
            <a:r>
              <a:rPr lang="fr-FR" sz="28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Style ، </a:t>
            </a:r>
            <a:r>
              <a:rPr lang="fr-FR" sz="28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Couleur </a:t>
            </a:r>
            <a:r>
              <a:rPr lang="ar-DZ" sz="28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و</a:t>
            </a:r>
            <a:r>
              <a:rPr lang="fr-FR" sz="28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Largeur ؟</a:t>
            </a:r>
            <a:endParaRPr lang="fr-FR" sz="2800" b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r" rtl="1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ar-DZ" sz="28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ما </a:t>
            </a:r>
            <a:r>
              <a:rPr lang="ar-DZ" sz="28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هي مراحل تنسيق الحدود إذن ؟</a:t>
            </a:r>
            <a:endParaRPr lang="fr-FR" sz="2800" b="1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6" name="Image 5"/>
          <p:cNvPicPr/>
          <p:nvPr/>
        </p:nvPicPr>
        <p:blipFill>
          <a:blip r:embed="rId3"/>
          <a:stretch>
            <a:fillRect/>
          </a:stretch>
        </p:blipFill>
        <p:spPr>
          <a:xfrm>
            <a:off x="6433930" y="974628"/>
            <a:ext cx="4525618" cy="2841997"/>
          </a:xfrm>
          <a:prstGeom prst="rect">
            <a:avLst/>
          </a:prstGeom>
        </p:spPr>
      </p:pic>
      <p:pic>
        <p:nvPicPr>
          <p:cNvPr id="7" name="Image 6"/>
          <p:cNvPicPr/>
          <p:nvPr/>
        </p:nvPicPr>
        <p:blipFill>
          <a:blip r:embed="rId4"/>
          <a:stretch>
            <a:fillRect/>
          </a:stretch>
        </p:blipFill>
        <p:spPr>
          <a:xfrm>
            <a:off x="1603513" y="974629"/>
            <a:ext cx="4497235" cy="284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2451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2413" y="323713"/>
            <a:ext cx="1178080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buClr>
                <a:srgbClr val="FF0000"/>
              </a:buClr>
            </a:pPr>
            <a:r>
              <a:rPr lang="ar-DZ" sz="4400" b="1" u="sng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1- </a:t>
            </a:r>
            <a:r>
              <a:rPr lang="ar-DZ" sz="4400" b="1" u="sng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تنسيق الحدود </a:t>
            </a:r>
            <a:r>
              <a:rPr lang="ar-DZ" sz="4400" b="1" u="sng" dirty="0" smtClean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:</a:t>
            </a:r>
            <a:endParaRPr lang="ar-DZ" sz="4400" b="1" u="sng" dirty="0">
              <a:solidFill>
                <a:srgbClr val="FF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1248417"/>
            <a:ext cx="12099234" cy="5193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36600" indent="-571500" algn="r" rtl="1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ar-DZ" sz="36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نحدد الخلايا المعنية</a:t>
            </a:r>
          </a:p>
          <a:p>
            <a:pPr marL="736600" indent="-571500" algn="r" rtl="1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ar-DZ" sz="36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تبويب التصميم </a:t>
            </a:r>
            <a:r>
              <a:rPr lang="fr-FR" sz="36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Création</a:t>
            </a:r>
            <a:endParaRPr lang="fr-FR" sz="3600" b="1" dirty="0">
              <a:latin typeface="Calibri" panose="020F0502020204030204" pitchFamily="34" charset="0"/>
              <a:ea typeface="Times New Roman" panose="02020603050405020304" pitchFamily="18" charset="0"/>
              <a:cs typeface="+mj-cs"/>
            </a:endParaRPr>
          </a:p>
          <a:p>
            <a:pPr marL="736600" indent="-571500" algn="r" rtl="1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ar-DZ" sz="36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التعليمة حدود </a:t>
            </a:r>
            <a:r>
              <a:rPr lang="fr-FR" sz="36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Bordures</a:t>
            </a:r>
            <a:endParaRPr lang="fr-FR" sz="3600" b="1" dirty="0">
              <a:latin typeface="Calibri" panose="020F0502020204030204" pitchFamily="34" charset="0"/>
              <a:ea typeface="Times New Roman" panose="02020603050405020304" pitchFamily="18" charset="0"/>
              <a:cs typeface="+mj-cs"/>
            </a:endParaRPr>
          </a:p>
          <a:p>
            <a:pPr marL="736600" indent="-571500" algn="r" rtl="1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ar-DZ" sz="3600" b="1" dirty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ن</a:t>
            </a:r>
            <a:r>
              <a:rPr lang="ar-DZ" sz="36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ختار </a:t>
            </a:r>
            <a:r>
              <a:rPr lang="fr-FR" sz="3600" b="1" dirty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Bordure et trame</a:t>
            </a:r>
          </a:p>
          <a:p>
            <a:pPr marL="736600" indent="-571500" algn="r" rtl="1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ar-DZ" sz="36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تظهر </a:t>
            </a:r>
            <a:r>
              <a:rPr lang="ar-DZ" sz="3600" b="1" dirty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علبة حوار نحدد فيها </a:t>
            </a:r>
            <a:r>
              <a:rPr lang="ar-DZ" sz="36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نمط</a:t>
            </a:r>
            <a:r>
              <a:rPr lang="fr-FR" sz="36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Style ،</a:t>
            </a:r>
            <a:r>
              <a:rPr lang="ar-DZ" sz="36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 لون</a:t>
            </a:r>
            <a:r>
              <a:rPr lang="fr-FR" sz="36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Couleur </a:t>
            </a:r>
            <a:r>
              <a:rPr lang="ar-DZ" sz="36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 وعرض الحد </a:t>
            </a:r>
            <a:r>
              <a:rPr lang="fr-FR" sz="36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Largeur</a:t>
            </a:r>
            <a:endParaRPr lang="fr-FR" sz="3600" b="1" dirty="0">
              <a:latin typeface="Calibri" panose="020F0502020204030204" pitchFamily="34" charset="0"/>
              <a:ea typeface="Times New Roman" panose="02020603050405020304" pitchFamily="18" charset="0"/>
              <a:cs typeface="+mj-cs"/>
            </a:endParaRPr>
          </a:p>
          <a:p>
            <a:pPr marL="736600" indent="-571500" algn="r" rtl="1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ar-DZ" sz="3600" b="1" dirty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ن</a:t>
            </a:r>
            <a:r>
              <a:rPr lang="ar-DZ" sz="36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ضغط </a:t>
            </a:r>
            <a:r>
              <a:rPr lang="ar-DZ" sz="3600" b="1" dirty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على </a:t>
            </a:r>
            <a:r>
              <a:rPr lang="fr-FR" sz="36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OK</a:t>
            </a:r>
            <a:endParaRPr lang="fr-FR" sz="3200" b="1" dirty="0">
              <a:latin typeface="Calibri" panose="020F0502020204030204" pitchFamily="34" charset="0"/>
              <a:ea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01620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496" y="2684"/>
            <a:ext cx="12182504" cy="755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ar-DZ" sz="4000" b="1" u="sng" dirty="0" smtClean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النشاط 02 :</a:t>
            </a:r>
            <a:endParaRPr lang="fr-FR" sz="32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495" y="4142401"/>
            <a:ext cx="11868150" cy="14516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lang="ar-DZ" sz="40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ما </a:t>
            </a:r>
            <a:r>
              <a:rPr lang="ar-DZ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الذي حصل للخلية الأولى في السطر الأخير حتي أصبحت خليتين ؟</a:t>
            </a:r>
          </a:p>
          <a:p>
            <a:pPr algn="r" rtl="1">
              <a:spcAft>
                <a:spcPts val="1000"/>
              </a:spcAft>
            </a:pPr>
            <a:r>
              <a:rPr lang="ar-DZ" sz="40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جد </a:t>
            </a:r>
            <a:r>
              <a:rPr lang="ar-DZ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طريقة تسمح بتقسيم الخلية الأولى في السطر الأخير إلى خليتين.</a:t>
            </a:r>
            <a:endParaRPr lang="fr-FR" sz="4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65" y="1256040"/>
            <a:ext cx="11302080" cy="217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6094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2413" y="323713"/>
            <a:ext cx="1159858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buClr>
                <a:srgbClr val="FF0000"/>
              </a:buClr>
            </a:pPr>
            <a:r>
              <a:rPr lang="ar-DZ" sz="44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2- تقسيم </a:t>
            </a:r>
            <a:r>
              <a:rPr lang="ar-DZ" sz="4400" b="1" u="sng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الخلايا : </a:t>
            </a:r>
            <a:endParaRPr lang="fr-FR" sz="4400" dirty="0"/>
          </a:p>
        </p:txBody>
      </p:sp>
      <p:sp>
        <p:nvSpPr>
          <p:cNvPr id="9" name="Rectangle 8"/>
          <p:cNvSpPr/>
          <p:nvPr/>
        </p:nvSpPr>
        <p:spPr>
          <a:xfrm>
            <a:off x="212412" y="1195408"/>
            <a:ext cx="11655738" cy="4626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5100" algn="r" rtl="1">
              <a:lnSpc>
                <a:spcPct val="115000"/>
              </a:lnSpc>
              <a:spcAft>
                <a:spcPts val="1000"/>
              </a:spcAft>
            </a:pPr>
            <a:r>
              <a:rPr lang="ar-DZ" sz="36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يمكن تقسيم خلية واحدة إلى عدة خلايا، بإتباع ما يلي:</a:t>
            </a:r>
            <a:endParaRPr lang="fr-FR" sz="3600" b="1" dirty="0">
              <a:latin typeface="Calibri" panose="020F0502020204030204" pitchFamily="34" charset="0"/>
              <a:ea typeface="Times New Roman" panose="02020603050405020304" pitchFamily="18" charset="0"/>
              <a:cs typeface="+mj-cs"/>
            </a:endParaRPr>
          </a:p>
          <a:p>
            <a:pPr marL="908050" indent="-742950" algn="r" rtl="1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ar-DZ" sz="36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نحدد الخلية المراد تقسيمها</a:t>
            </a:r>
            <a:endParaRPr lang="fr-FR" sz="3600" b="1" dirty="0">
              <a:latin typeface="Calibri" panose="020F0502020204030204" pitchFamily="34" charset="0"/>
              <a:ea typeface="Times New Roman" panose="02020603050405020304" pitchFamily="18" charset="0"/>
              <a:cs typeface="+mj-cs"/>
            </a:endParaRPr>
          </a:p>
          <a:p>
            <a:pPr marL="908050" indent="-742950" algn="r" rtl="1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ar-DZ" sz="36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التبويب </a:t>
            </a:r>
            <a:r>
              <a:rPr lang="fr-FR"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Disposition </a:t>
            </a:r>
            <a:endParaRPr lang="fr-FR" sz="3600" b="1" dirty="0">
              <a:latin typeface="Calibri" panose="020F0502020204030204" pitchFamily="34" charset="0"/>
              <a:ea typeface="Times New Roman" panose="02020603050405020304" pitchFamily="18" charset="0"/>
              <a:cs typeface="+mj-cs"/>
            </a:endParaRPr>
          </a:p>
          <a:p>
            <a:pPr marL="908050" indent="-742950" algn="r" rtl="1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ar-DZ" sz="36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التعليمة تقسيم الخلايا </a:t>
            </a:r>
            <a:r>
              <a:rPr lang="fr-FR"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Fractionner </a:t>
            </a:r>
            <a:endParaRPr lang="fr-FR" sz="3600" b="1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908050" indent="-742950" algn="r" rtl="1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ar-DZ" sz="36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نكتب عدد الأعمدة والأسطر التي نريد الحصول </a:t>
            </a:r>
            <a:r>
              <a:rPr lang="ar-DZ" sz="3600" b="1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عليها</a:t>
            </a:r>
          </a:p>
          <a:p>
            <a:pPr marL="908050" indent="-742950" algn="r" rtl="1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ar-DZ" sz="36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نضغط على </a:t>
            </a:r>
            <a:r>
              <a:rPr lang="fr-FR" sz="3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OK</a:t>
            </a:r>
            <a:endParaRPr lang="fr-FR" sz="3600" b="1" dirty="0">
              <a:latin typeface="Calibri" panose="020F0502020204030204" pitchFamily="34" charset="0"/>
              <a:ea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844676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22990"/>
            <a:ext cx="1185990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lang="ar-DZ" sz="4400" b="1" u="sng" dirty="0" smtClean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تدريب :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40081"/>
            <a:ext cx="11859904" cy="1365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>
              <a:lnSpc>
                <a:spcPct val="107000"/>
              </a:lnSpc>
              <a:spcAft>
                <a:spcPts val="0"/>
              </a:spcAft>
            </a:pPr>
            <a:r>
              <a:rPr lang="ar-DZ" sz="4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أنجز جدولك التوقيت الأسبوعي في ملف وورد واحفظه على سطح المكتب معطيا له اسم  لقبك_اسمك_جدول_توقيت_2م1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82" y="2752913"/>
            <a:ext cx="6506058" cy="375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634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230</Words>
  <Application>Microsoft Office PowerPoint</Application>
  <PresentationFormat>Grand écran</PresentationFormat>
  <Paragraphs>43</Paragraphs>
  <Slides>9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Compte Microsoft</cp:lastModifiedBy>
  <cp:revision>142</cp:revision>
  <dcterms:created xsi:type="dcterms:W3CDTF">2024-09-28T14:01:15Z</dcterms:created>
  <dcterms:modified xsi:type="dcterms:W3CDTF">2025-01-17T18:30:04Z</dcterms:modified>
</cp:coreProperties>
</file>