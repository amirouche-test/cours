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9" r:id="rId4"/>
    <p:sldId id="268" r:id="rId5"/>
    <p:sldId id="270" r:id="rId6"/>
    <p:sldId id="274" r:id="rId7"/>
    <p:sldId id="273" r:id="rId8"/>
    <p:sldId id="266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86" autoAdjust="0"/>
    <p:restoredTop sz="94660"/>
  </p:normalViewPr>
  <p:slideViewPr>
    <p:cSldViewPr snapToGrid="0">
      <p:cViewPr>
        <p:scale>
          <a:sx n="66" d="100"/>
          <a:sy n="66" d="100"/>
        </p:scale>
        <p:origin x="1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09ED0-CAD5-44E1-91E8-3616676F7223}" type="datetimeFigureOut">
              <a:rPr lang="fr-FR" smtClean="0"/>
              <a:t>18/01/2025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C633B-D051-4BE3-A8CB-7736F551B52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0774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C633B-D051-4BE3-A8CB-7736F551B52D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2552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C633B-D051-4BE3-A8CB-7736F551B52D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7946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6C633B-D051-4BE3-A8CB-7736F551B52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877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2048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738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299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18/01/2025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9318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18/01/2025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828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18/01/2025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288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18/01/2025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31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18/01/2025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5027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18/01/2025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804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7234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4F739-B7D4-4EFD-BF14-44542778AB9F}" type="datetimeFigureOut">
              <a:rPr lang="fr-FR" smtClean="0"/>
              <a:t>18/01/2025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2127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4F739-B7D4-4EFD-BF14-44542778AB9F}" type="datetimeFigureOut">
              <a:rPr lang="fr-FR" smtClean="0"/>
              <a:t>18/01/2025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BA64F-13F1-477B-BAB0-ABBB0ABE23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9916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025762" y="401707"/>
            <a:ext cx="8524047" cy="9417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48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تغذية </a:t>
            </a:r>
            <a:r>
              <a:rPr lang="ar-DZ" sz="48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راجعة : </a:t>
            </a:r>
            <a:endParaRPr lang="fr-FR" sz="4800" b="1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5800" y="1688515"/>
            <a:ext cx="11106150" cy="17286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r" rtl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ar-SA" sz="4400" b="1" dirty="0" smtClean="0">
                <a:cs typeface="+mj-cs"/>
              </a:rPr>
              <a:t>كيف </a:t>
            </a:r>
            <a:r>
              <a:rPr lang="ar-SA" sz="4400" b="1" dirty="0">
                <a:cs typeface="+mj-cs"/>
              </a:rPr>
              <a:t>يمكننا تنسيق حدود الجدول ؟</a:t>
            </a:r>
          </a:p>
          <a:p>
            <a:pPr marL="571500" indent="-571500" algn="r" rtl="1">
              <a:lnSpc>
                <a:spcPct val="115000"/>
              </a:lnSpc>
              <a:spcAft>
                <a:spcPts val="1000"/>
              </a:spcAft>
              <a:buFontTx/>
              <a:buChar char="-"/>
            </a:pPr>
            <a:r>
              <a:rPr lang="ar-SA" sz="4400" b="1" dirty="0" smtClean="0">
                <a:cs typeface="+mj-cs"/>
              </a:rPr>
              <a:t>كيف </a:t>
            </a:r>
            <a:r>
              <a:rPr lang="ar-SA" sz="4400" b="1" dirty="0">
                <a:cs typeface="+mj-cs"/>
              </a:rPr>
              <a:t>يمكننا تظليل خلايا الجدول ؟</a:t>
            </a:r>
            <a:endParaRPr lang="fr-FR" sz="4400" b="1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4584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684"/>
            <a:ext cx="12191999" cy="75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40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الوضعية </a:t>
            </a:r>
            <a:r>
              <a:rPr lang="ar-DZ" sz="4000" b="1" u="sng" dirty="0" err="1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الإنطلاقية</a:t>
            </a:r>
            <a:r>
              <a:rPr lang="ar-DZ" sz="40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32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9271" y="780676"/>
            <a:ext cx="11879984" cy="556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DZ" sz="28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إليك النموذج الجزيئي التالي الذي أنجزه أمين في مادة الفيزياء بواسطة برنامج الـ </a:t>
            </a:r>
            <a:r>
              <a:rPr lang="fr-FR" sz="28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Word </a:t>
            </a:r>
            <a:endParaRPr lang="fr-FR" sz="2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9271" y="5602652"/>
            <a:ext cx="118799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r" rtl="1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ar-DZ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إضافة </a:t>
            </a:r>
            <a:r>
              <a:rPr lang="ar-DZ" sz="36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إلى الجداول، ماذا يمكننا إدراجه أيضا في ال </a:t>
            </a:r>
            <a:r>
              <a:rPr lang="fr-FR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ar-DZ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؟ </a:t>
            </a:r>
            <a:endParaRPr lang="ar-DZ" sz="36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827" y="1454314"/>
            <a:ext cx="9842872" cy="368466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256557" y="5602652"/>
            <a:ext cx="176253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DZ" sz="3600" b="1" dirty="0" smtClean="0">
                <a:solidFill>
                  <a:srgbClr val="00B0F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الأشكال</a:t>
            </a:r>
            <a:endParaRPr lang="ar-DZ" sz="3600" b="1" dirty="0">
              <a:solidFill>
                <a:srgbClr val="00B0F0"/>
              </a:solidFill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8391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496" y="2684"/>
            <a:ext cx="12182504" cy="75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40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النشاط 01 </a:t>
            </a:r>
            <a:r>
              <a:rPr lang="ar-DZ" sz="40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2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7391" y="1705621"/>
            <a:ext cx="119667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r" rtl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ar-DZ" sz="32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ما </a:t>
            </a:r>
            <a:r>
              <a:rPr lang="ar-DZ" sz="32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هو التبويب الذي يسمح لنا بالإدراج </a:t>
            </a:r>
            <a:r>
              <a:rPr lang="ar-DZ" sz="32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؟</a:t>
            </a:r>
            <a:endParaRPr lang="ar-DZ" sz="32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7390" y="2314670"/>
            <a:ext cx="119667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r" rtl="1"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fr-FR" sz="3200" b="1" dirty="0" smtClean="0">
                <a:solidFill>
                  <a:srgbClr val="00B0F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Insertion</a:t>
            </a:r>
            <a:endParaRPr lang="fr-FR" sz="3200" b="1" dirty="0">
              <a:solidFill>
                <a:srgbClr val="00B0F0"/>
              </a:solidFill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7390" y="3273190"/>
            <a:ext cx="119667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r" rtl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ar-DZ" sz="32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كيف </a:t>
            </a:r>
            <a:r>
              <a:rPr lang="ar-DZ" sz="32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نسمي الأشكال باللغة الفرنسية </a:t>
            </a:r>
            <a:r>
              <a:rPr lang="ar-DZ" sz="32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؟</a:t>
            </a:r>
            <a:endParaRPr lang="ar-DZ" sz="32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7388" y="4828168"/>
            <a:ext cx="119667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r" rtl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ar-DZ" sz="32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لنحاول </a:t>
            </a:r>
            <a:r>
              <a:rPr lang="ar-DZ" sz="32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في الحاسوب اكتشاف كيفية إدراج الأشكال في </a:t>
            </a:r>
            <a:r>
              <a:rPr lang="ar-DZ" sz="32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 </a:t>
            </a:r>
            <a:r>
              <a:rPr lang="fr-FR" sz="32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32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fr-FR" sz="32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</a:t>
            </a:r>
            <a:endParaRPr lang="fr-FR" sz="3200" b="1" dirty="0"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7389" y="3845374"/>
            <a:ext cx="1196671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r" rtl="1">
              <a:spcAft>
                <a:spcPts val="1000"/>
              </a:spcAft>
              <a:buFont typeface="Wingdings" panose="05000000000000000000" pitchFamily="2" charset="2"/>
              <a:buChar char="ü"/>
            </a:pPr>
            <a:r>
              <a:rPr lang="fr-FR" sz="3200" b="1" dirty="0" smtClean="0">
                <a:solidFill>
                  <a:srgbClr val="00B0F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Formes</a:t>
            </a:r>
            <a:endParaRPr lang="fr-FR" sz="3200" b="1" dirty="0">
              <a:solidFill>
                <a:srgbClr val="00B0F0"/>
              </a:solidFill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2451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12413" y="323713"/>
            <a:ext cx="1178080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0" indent="-742950" algn="r" rtl="1">
              <a:buClr>
                <a:srgbClr val="FF0000"/>
              </a:buClr>
              <a:buFont typeface="+mj-lt"/>
              <a:buAutoNum type="arabicPeriod"/>
            </a:pPr>
            <a:r>
              <a:rPr lang="ar-DZ" sz="44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إ</a:t>
            </a: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دراج </a:t>
            </a:r>
            <a:r>
              <a:rPr lang="ar-DZ" sz="4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لإشكال</a:t>
            </a:r>
            <a:r>
              <a:rPr lang="ar-DZ" sz="4400" b="1" u="sng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:</a:t>
            </a:r>
            <a:endParaRPr lang="ar-DZ" sz="4400" b="1" u="sng" dirty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9269" y="1248417"/>
            <a:ext cx="1187394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0" indent="-742950" algn="r" rtl="1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ar-DZ" sz="3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تبويب </a:t>
            </a:r>
            <a:r>
              <a:rPr lang="ar-DZ"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الإدراج </a:t>
            </a:r>
            <a:r>
              <a:rPr lang="fr-FR"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Insertion </a:t>
            </a:r>
            <a:endParaRPr lang="fr-FR" sz="3600" b="1" dirty="0"/>
          </a:p>
          <a:p>
            <a:pPr marL="742950" lvl="0" indent="-742950" algn="r" rtl="1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ar-DZ" sz="3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الأداة </a:t>
            </a:r>
            <a:r>
              <a:rPr lang="fr-FR" sz="3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Formes</a:t>
            </a:r>
          </a:p>
          <a:p>
            <a:pPr marL="742950" lvl="0" indent="-742950" algn="r" rtl="1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ar-DZ" sz="3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نختار </a:t>
            </a:r>
            <a:r>
              <a:rPr lang="ar-DZ" sz="36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الشكل الذي نريد </a:t>
            </a:r>
            <a:r>
              <a:rPr lang="ar-DZ" sz="3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إدراجه</a:t>
            </a:r>
            <a:endParaRPr lang="fr-FR" sz="3600" b="1" dirty="0"/>
          </a:p>
          <a:p>
            <a:pPr marL="742950" lvl="0" indent="-742950" algn="r" rtl="1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ar-DZ" sz="36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تتحول </a:t>
            </a:r>
            <a:r>
              <a:rPr lang="ar-DZ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مشيرة الفارة إلى       نسحب الفارة ونضغط دون رفع </a:t>
            </a:r>
            <a:r>
              <a:rPr lang="ar-DZ" sz="36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اليد.</a:t>
            </a:r>
            <a:endParaRPr lang="ar-DZ" sz="3600" b="1" dirty="0">
              <a:latin typeface="Arial" panose="020B0604020202020204" pitchFamily="34" charset="0"/>
            </a:endParaRPr>
          </a:p>
        </p:txBody>
      </p:sp>
      <p:grpSp>
        <p:nvGrpSpPr>
          <p:cNvPr id="5" name="Groupe 4"/>
          <p:cNvGrpSpPr>
            <a:grpSpLocks/>
          </p:cNvGrpSpPr>
          <p:nvPr/>
        </p:nvGrpSpPr>
        <p:grpSpPr bwMode="auto">
          <a:xfrm>
            <a:off x="7149410" y="3101009"/>
            <a:ext cx="364572" cy="343563"/>
            <a:chOff x="0" y="0"/>
            <a:chExt cx="184150" cy="209550"/>
          </a:xfrm>
        </p:grpSpPr>
        <p:cxnSp>
          <p:nvCxnSpPr>
            <p:cNvPr id="6" name="Connecteur droit 5"/>
            <p:cNvCxnSpPr>
              <a:cxnSpLocks noChangeShapeType="1"/>
            </p:cNvCxnSpPr>
            <p:nvPr/>
          </p:nvCxnSpPr>
          <p:spPr bwMode="auto">
            <a:xfrm>
              <a:off x="90792" y="0"/>
              <a:ext cx="6350" cy="209550"/>
            </a:xfrm>
            <a:prstGeom prst="line">
              <a:avLst/>
            </a:prstGeom>
            <a:noFill/>
            <a:ln w="28575">
              <a:solidFill>
                <a:schemeClr val="tx1">
                  <a:lumMod val="100000"/>
                  <a:lumOff val="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" name="Connecteur droit 6"/>
            <p:cNvCxnSpPr>
              <a:cxnSpLocks noChangeShapeType="1"/>
            </p:cNvCxnSpPr>
            <p:nvPr/>
          </p:nvCxnSpPr>
          <p:spPr bwMode="auto">
            <a:xfrm flipV="1">
              <a:off x="0" y="97277"/>
              <a:ext cx="184150" cy="6350"/>
            </a:xfrm>
            <a:prstGeom prst="line">
              <a:avLst/>
            </a:prstGeom>
            <a:noFill/>
            <a:ln w="28575">
              <a:solidFill>
                <a:schemeClr val="tx1">
                  <a:lumMod val="100000"/>
                  <a:lumOff val="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3701620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496" y="2684"/>
            <a:ext cx="12182504" cy="755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>
              <a:lnSpc>
                <a:spcPct val="115000"/>
              </a:lnSpc>
              <a:spcAft>
                <a:spcPts val="1000"/>
              </a:spcAft>
            </a:pPr>
            <a:r>
              <a:rPr lang="ar-DZ" sz="40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النشاط 02 :</a:t>
            </a:r>
            <a:endParaRPr lang="fr-FR" sz="32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1896" y="1875144"/>
            <a:ext cx="118681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r" rtl="1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ar-DZ" sz="28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اعتماد على السندات حاول </a:t>
            </a:r>
            <a:r>
              <a:rPr lang="ar-DZ" sz="28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إجراء بعض العمليات على الشكل المدرج</a:t>
            </a:r>
            <a:r>
              <a:rPr lang="ar-DZ" sz="28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DZ" sz="28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61896" y="1226200"/>
            <a:ext cx="118681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r" rtl="1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ar-DZ" sz="28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برأيك </a:t>
            </a:r>
            <a:r>
              <a:rPr lang="ar-DZ" sz="28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ما هي مختلف العمليات الممكن إجراؤها على الأشكال </a:t>
            </a:r>
            <a:r>
              <a:rPr lang="ar-DZ" sz="28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؟</a:t>
            </a:r>
            <a:endParaRPr lang="ar-DZ" sz="2800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0"/>
          <p:cNvPicPr/>
          <p:nvPr/>
        </p:nvPicPr>
        <p:blipFill>
          <a:blip r:embed="rId4"/>
          <a:stretch>
            <a:fillRect/>
          </a:stretch>
        </p:blipFill>
        <p:spPr>
          <a:xfrm>
            <a:off x="1351723" y="2716696"/>
            <a:ext cx="4969566" cy="38825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Image 11"/>
          <p:cNvPicPr/>
          <p:nvPr/>
        </p:nvPicPr>
        <p:blipFill>
          <a:blip r:embed="rId5"/>
          <a:stretch>
            <a:fillRect/>
          </a:stretch>
        </p:blipFill>
        <p:spPr>
          <a:xfrm>
            <a:off x="6652590" y="2716696"/>
            <a:ext cx="4784035" cy="383818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156094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245660" y="1057173"/>
            <a:ext cx="11791665" cy="5165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indent="-742950" algn="r" rtl="1">
              <a:spcAft>
                <a:spcPts val="1000"/>
              </a:spcAft>
              <a:buFont typeface="+mj-cs"/>
              <a:buAutoNum type="arabic1Minus"/>
            </a:pPr>
            <a:r>
              <a:rPr lang="ar-DZ" sz="3200" b="1" u="sng" dirty="0" smtClean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تحديد الشكل :</a:t>
            </a:r>
            <a:r>
              <a:rPr lang="ar-DZ" sz="3200" b="1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نضغط </a:t>
            </a:r>
            <a:r>
              <a:rPr lang="ar-DZ" sz="3200" b="1" dirty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داخل الشكل بالزر الأيسر </a:t>
            </a:r>
            <a:r>
              <a:rPr lang="ar-DZ" sz="32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للفأرة.</a:t>
            </a:r>
          </a:p>
          <a:p>
            <a:pPr marL="742950" indent="-742950" algn="r" rtl="1">
              <a:spcAft>
                <a:spcPts val="1000"/>
              </a:spcAft>
              <a:buFont typeface="+mj-cs"/>
              <a:buAutoNum type="arabic1Minus"/>
            </a:pPr>
            <a:r>
              <a:rPr kumimoji="0" lang="ar-DZ" sz="3200" b="1" i="0" u="sng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تحريك الشكل :</a:t>
            </a:r>
            <a:r>
              <a:rPr lang="ar-DZ" sz="32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kumimoji="0" lang="ar-DZ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نضع </a:t>
            </a:r>
            <a:r>
              <a:rPr kumimoji="0" lang="ar-DZ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المشيرة داخل الشكل حتى يصبح شكلها        ، نضغط </a:t>
            </a:r>
            <a:r>
              <a:rPr kumimoji="0" lang="ar-DZ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و</a:t>
            </a:r>
            <a:r>
              <a:rPr kumimoji="0" lang="ar-DZ" sz="3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</a:t>
            </a:r>
            <a:r>
              <a:rPr kumimoji="0" lang="ar-DZ" sz="3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دون رفع </a:t>
            </a:r>
            <a:r>
              <a:rPr kumimoji="0" lang="ar-DZ" sz="32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اليد نسحب.</a:t>
            </a:r>
          </a:p>
          <a:p>
            <a:pPr marL="742950" indent="-742950" algn="r" rtl="1">
              <a:spcAft>
                <a:spcPts val="1000"/>
              </a:spcAft>
              <a:buFont typeface="+mj-cs"/>
              <a:buAutoNum type="arabic1Minus"/>
            </a:pPr>
            <a:r>
              <a:rPr lang="ar-DZ" sz="3200" b="1" u="sng" dirty="0" smtClean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تغيير </a:t>
            </a:r>
            <a:r>
              <a:rPr lang="ar-DZ" sz="3200" b="1" u="sng" dirty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حجم </a:t>
            </a:r>
            <a:r>
              <a:rPr lang="ar-DZ" sz="3200" b="1" u="sng" dirty="0" smtClean="0">
                <a:solidFill>
                  <a:srgbClr val="00B05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الشكل :</a:t>
            </a:r>
            <a:endParaRPr lang="fr-FR" sz="3200" b="1" dirty="0">
              <a:solidFill>
                <a:srgbClr val="00B050"/>
              </a:solidFill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marL="1485900" lvl="2" indent="-571500" algn="r" rtl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ar-DZ" sz="3200" b="1" dirty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نحدد الشكل، ثم نضع المشيرة على إحدى المربعات الصغيرة حتى يظهر لنا خط ذو </a:t>
            </a:r>
            <a:r>
              <a:rPr lang="ar-DZ" sz="32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سهمين</a:t>
            </a:r>
          </a:p>
          <a:p>
            <a:pPr marL="1485900" lvl="2" indent="-571500" algn="r" rtl="1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ar-DZ" sz="32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نضغط </a:t>
            </a:r>
            <a:r>
              <a:rPr lang="ar-DZ" sz="3200" b="1" dirty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ونسحب الفأرة في الاتجاه المناسب</a:t>
            </a:r>
            <a:r>
              <a:rPr lang="ar-DZ" sz="32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.</a:t>
            </a:r>
          </a:p>
          <a:p>
            <a:pPr marL="742950" indent="-742950" algn="r" rtl="1" eaLnBrk="0" fontAlgn="base" hangingPunct="0">
              <a:spcBef>
                <a:spcPct val="0"/>
              </a:spcBef>
              <a:spcAft>
                <a:spcPct val="0"/>
              </a:spcAft>
              <a:buFont typeface="+mj-cs"/>
              <a:buAutoNum type="arabic1Minus" startAt="4"/>
            </a:pPr>
            <a:r>
              <a:rPr lang="ar-DZ" sz="3200" b="1" u="sng" dirty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تدوير الشكل :</a:t>
            </a:r>
          </a:p>
          <a:p>
            <a:pPr lvl="2"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نحدده ثم نضغط على الرمز        ثم نضغط و نسحب دون رفع اليد</a:t>
            </a:r>
            <a:r>
              <a:rPr lang="ar-DZ" sz="32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</a:t>
            </a:r>
            <a:endParaRPr lang="ar-DZ" sz="3200" b="1" dirty="0">
              <a:latin typeface="Arial" panose="020B0604020202020204" pitchFamily="34" charset="0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14651" y="135082"/>
            <a:ext cx="10822674" cy="689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 startAt="2"/>
            </a:pPr>
            <a:r>
              <a:rPr lang="ar-DZ" sz="36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العمليات </a:t>
            </a:r>
            <a:r>
              <a:rPr lang="ar-SA" sz="36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على الاشك</a:t>
            </a:r>
            <a:r>
              <a:rPr lang="ar-DZ" sz="36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36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ل</a:t>
            </a:r>
            <a:r>
              <a:rPr lang="ar-DZ" sz="36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36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600" b="1" dirty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-545910" y="260413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grpSp>
        <p:nvGrpSpPr>
          <p:cNvPr id="7" name="Groupe 6"/>
          <p:cNvGrpSpPr>
            <a:grpSpLocks/>
          </p:cNvGrpSpPr>
          <p:nvPr/>
        </p:nvGrpSpPr>
        <p:grpSpPr bwMode="auto">
          <a:xfrm>
            <a:off x="2764539" y="1735419"/>
            <a:ext cx="586853" cy="545910"/>
            <a:chOff x="3255" y="7035"/>
            <a:chExt cx="420" cy="435"/>
          </a:xfrm>
        </p:grpSpPr>
        <p:cxnSp>
          <p:nvCxnSpPr>
            <p:cNvPr id="8" name="AutoShape 6"/>
            <p:cNvCxnSpPr>
              <a:cxnSpLocks noChangeShapeType="1"/>
            </p:cNvCxnSpPr>
            <p:nvPr/>
          </p:nvCxnSpPr>
          <p:spPr bwMode="auto">
            <a:xfrm flipH="1">
              <a:off x="3255" y="7260"/>
              <a:ext cx="42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" name="AutoShape 7"/>
            <p:cNvCxnSpPr>
              <a:cxnSpLocks noChangeShapeType="1"/>
            </p:cNvCxnSpPr>
            <p:nvPr/>
          </p:nvCxnSpPr>
          <p:spPr bwMode="auto">
            <a:xfrm>
              <a:off x="3465" y="7035"/>
              <a:ext cx="0" cy="43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11" name="Connecteur droit avec flèche 10"/>
          <p:cNvCxnSpPr/>
          <p:nvPr/>
        </p:nvCxnSpPr>
        <p:spPr>
          <a:xfrm flipV="1">
            <a:off x="8456330" y="4085812"/>
            <a:ext cx="443605" cy="3156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Forme libre 11"/>
          <p:cNvSpPr>
            <a:spLocks noChangeArrowheads="1"/>
          </p:cNvSpPr>
          <p:nvPr/>
        </p:nvSpPr>
        <p:spPr bwMode="auto">
          <a:xfrm rot="20545567">
            <a:off x="7010399" y="5741645"/>
            <a:ext cx="472095" cy="466531"/>
          </a:xfrm>
          <a:custGeom>
            <a:avLst/>
            <a:gdLst>
              <a:gd name="G0" fmla="+- 0 0 0"/>
              <a:gd name="G1" fmla="+- -11796480 0 0"/>
              <a:gd name="G2" fmla="+- 0 0 -11796480"/>
              <a:gd name="G3" fmla="+- 10800 0 0"/>
              <a:gd name="G4" fmla="+- 0 0 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5400 0 0"/>
              <a:gd name="G9" fmla="+- 0 0 -11796480"/>
              <a:gd name="G10" fmla="+- 5400 0 2700"/>
              <a:gd name="G11" fmla="cos G10 0"/>
              <a:gd name="G12" fmla="sin G10 0"/>
              <a:gd name="G13" fmla="cos 13500 0"/>
              <a:gd name="G14" fmla="sin 13500 0"/>
              <a:gd name="G15" fmla="+- G11 10800 0"/>
              <a:gd name="G16" fmla="+- G12 10800 0"/>
              <a:gd name="G17" fmla="+- G13 10800 0"/>
              <a:gd name="G18" fmla="+- G14 10800 0"/>
              <a:gd name="G19" fmla="*/ 5400 1 2"/>
              <a:gd name="G20" fmla="+- G19 5400 0"/>
              <a:gd name="G21" fmla="cos G20 0"/>
              <a:gd name="G22" fmla="sin G20 0"/>
              <a:gd name="G23" fmla="+- G21 10800 0"/>
              <a:gd name="G24" fmla="+- G12 G23 G22"/>
              <a:gd name="G25" fmla="+- G22 G23 G11"/>
              <a:gd name="G26" fmla="cos 10800 0"/>
              <a:gd name="G27" fmla="sin 10800 0"/>
              <a:gd name="G28" fmla="cos 5400 0"/>
              <a:gd name="G29" fmla="sin 5400 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5400 G39"/>
              <a:gd name="G43" fmla="sin 54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800 w 21600"/>
              <a:gd name="T5" fmla="*/ 0 h 21600"/>
              <a:gd name="T6" fmla="*/ 2700 w 21600"/>
              <a:gd name="T7" fmla="*/ 10799 h 21600"/>
              <a:gd name="T8" fmla="*/ 10800 w 21600"/>
              <a:gd name="T9" fmla="*/ 5400 h 21600"/>
              <a:gd name="T10" fmla="*/ 24300 w 21600"/>
              <a:gd name="T11" fmla="*/ 10800 h 21600"/>
              <a:gd name="T12" fmla="*/ 18900 w 21600"/>
              <a:gd name="T13" fmla="*/ 16200 h 21600"/>
              <a:gd name="T14" fmla="*/ 13500 w 21600"/>
              <a:gd name="T15" fmla="*/ 10800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lnTo>
                  <a:pt x="0" y="10799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419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90285" y="117693"/>
            <a:ext cx="11716847" cy="6740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indent="-742950" algn="r" rtl="1" eaLnBrk="0" fontAlgn="base" hangingPunct="0">
              <a:spcBef>
                <a:spcPct val="0"/>
              </a:spcBef>
              <a:spcAft>
                <a:spcPct val="0"/>
              </a:spcAft>
              <a:buFont typeface="+mj-cs"/>
              <a:buAutoNum type="arabic1Minus" startAt="5"/>
            </a:pPr>
            <a:r>
              <a:rPr lang="ar-DZ" sz="3200" b="1" u="sng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تلوين الشكل :</a:t>
            </a:r>
            <a:endParaRPr lang="ar-DZ" sz="3200" b="1" dirty="0" smtClean="0">
              <a:solidFill>
                <a:srgbClr val="00B050"/>
              </a:solidFill>
              <a:cs typeface="+mj-cs"/>
            </a:endParaRPr>
          </a:p>
          <a:p>
            <a:pPr marL="1485900" lvl="2" indent="-571500" algn="r" rt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ar-DZ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نحدد الشكل</a:t>
            </a:r>
          </a:p>
          <a:p>
            <a:pPr marL="1485900" lvl="2" indent="-571500" algn="r" rt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ar-DZ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تبويب </a:t>
            </a:r>
            <a:r>
              <a:rPr lang="ar-DZ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التنسيق </a:t>
            </a:r>
            <a:r>
              <a:rPr lang="fr-FR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Format</a:t>
            </a:r>
            <a:endParaRPr lang="fr-FR" sz="3200" b="1" dirty="0" smtClean="0">
              <a:cs typeface="+mj-cs"/>
            </a:endParaRPr>
          </a:p>
          <a:p>
            <a:pPr marL="1485900" lvl="2" indent="-571500" algn="r" rt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ar-DZ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لتلوين </a:t>
            </a:r>
            <a:r>
              <a:rPr lang="ar-DZ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الشكل ننقر على الأداة </a:t>
            </a:r>
            <a:r>
              <a:rPr lang="fr-FR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Remplissage</a:t>
            </a:r>
            <a:endParaRPr lang="fr-FR" sz="3200" b="1" dirty="0" smtClean="0">
              <a:cs typeface="+mj-cs"/>
            </a:endParaRPr>
          </a:p>
          <a:p>
            <a:pPr marL="1485900" lvl="2" indent="-571500" algn="r" rtl="1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ar-SA" sz="32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لتلوين </a:t>
            </a:r>
            <a:r>
              <a:rPr lang="ar-DZ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حدود </a:t>
            </a:r>
            <a:r>
              <a:rPr lang="ar-SA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الشكل ننقر على الأداة </a:t>
            </a:r>
            <a:r>
              <a:rPr lang="fr-FR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Contour </a:t>
            </a:r>
            <a:endParaRPr lang="fr-FR" sz="3200" b="1" dirty="0" smtClean="0">
              <a:cs typeface="+mj-cs"/>
            </a:endParaRPr>
          </a:p>
          <a:p>
            <a:pPr marL="742950" indent="-742950" algn="r" rtl="1" eaLnBrk="0" fontAlgn="base" hangingPunct="0">
              <a:spcBef>
                <a:spcPct val="0"/>
              </a:spcBef>
              <a:spcAft>
                <a:spcPct val="0"/>
              </a:spcAft>
              <a:buFont typeface="+mj-cs"/>
              <a:buAutoNum type="arabic1Minus" startAt="5"/>
            </a:pPr>
            <a:r>
              <a:rPr lang="ar-DZ" sz="3200" b="1" u="sng" dirty="0" smtClean="0">
                <a:solidFill>
                  <a:srgbClr val="00B05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حذف الشكل :</a:t>
            </a:r>
            <a:endParaRPr lang="ar-DZ" sz="3200" b="1" dirty="0" smtClean="0">
              <a:solidFill>
                <a:srgbClr val="00B050"/>
              </a:solidFill>
              <a:cs typeface="+mj-cs"/>
            </a:endParaRPr>
          </a:p>
          <a:p>
            <a:pPr lvl="2" algn="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sz="32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نحدد </a:t>
            </a:r>
            <a:r>
              <a:rPr lang="ar-DZ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الشكل ثم نضغط على المفتاح </a:t>
            </a:r>
            <a:r>
              <a:rPr lang="fr-FR" sz="32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Suppr</a:t>
            </a:r>
            <a:r>
              <a:rPr lang="ar-DZ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من لوحة المفاتيح</a:t>
            </a:r>
            <a:r>
              <a:rPr lang="ar-DZ" sz="32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</a:t>
            </a:r>
          </a:p>
          <a:p>
            <a:pPr lvl="2" algn="r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ar-DZ" sz="3200" b="1" dirty="0">
              <a:latin typeface="Arial" panose="020B0604020202020204" pitchFamily="34" charset="0"/>
              <a:cs typeface="+mj-cs"/>
            </a:endParaRPr>
          </a:p>
          <a:p>
            <a:pPr marL="514350" indent="-514350" algn="r" rtl="1">
              <a:lnSpc>
                <a:spcPct val="115000"/>
              </a:lnSpc>
              <a:spcAft>
                <a:spcPts val="1000"/>
              </a:spcAft>
              <a:buFont typeface="+mj-lt"/>
              <a:buAutoNum type="arabicPeriod" startAt="3"/>
            </a:pPr>
            <a:r>
              <a:rPr lang="ar-DZ" sz="36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الكتابة </a:t>
            </a:r>
            <a:r>
              <a:rPr lang="ar-DZ" sz="3600" b="1" u="sng" dirty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داخل </a:t>
            </a:r>
            <a:r>
              <a:rPr lang="ar-DZ" sz="36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الشكل :</a:t>
            </a:r>
            <a:endParaRPr lang="fr-FR" sz="3600" b="1" dirty="0">
              <a:solidFill>
                <a:srgbClr val="FF0000"/>
              </a:solidFill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DZ" sz="32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ar-SA" sz="32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ننقر على الشكل بالزر الأيمن للفأرة فتظهر قائمة نختار </a:t>
            </a:r>
            <a:r>
              <a:rPr lang="ar-SA" sz="3200" b="1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منها</a:t>
            </a:r>
            <a:endParaRPr lang="ar-DZ" sz="3200" b="1" dirty="0" smtClean="0">
              <a:solidFill>
                <a:srgbClr val="000000"/>
              </a:solidFill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algn="r" rtl="1">
              <a:lnSpc>
                <a:spcPct val="115000"/>
              </a:lnSpc>
              <a:spcAft>
                <a:spcPts val="1000"/>
              </a:spcAft>
            </a:pPr>
            <a:r>
              <a:rPr lang="ar-SA" sz="3200" b="1" dirty="0" smtClean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إضافة </a:t>
            </a:r>
            <a:r>
              <a:rPr lang="ar-SA" sz="32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نص</a:t>
            </a:r>
            <a:r>
              <a:rPr lang="ar-DZ" sz="32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+mj-cs"/>
              </a:rPr>
              <a:t> </a:t>
            </a:r>
            <a:r>
              <a:rPr lang="fr-FR" sz="32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 Ajouter du texte</a:t>
            </a:r>
            <a:endParaRPr lang="fr-FR" sz="3200" b="1" dirty="0">
              <a:latin typeface="Calibri" panose="020F0502020204030204" pitchFamily="34" charset="0"/>
              <a:ea typeface="Times New Roman" panose="02020603050405020304" pitchFamily="18" charset="0"/>
              <a:cs typeface="+mj-cs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cs typeface="+mj-cs"/>
            </a:endParaRPr>
          </a:p>
        </p:txBody>
      </p:sp>
      <p:sp>
        <p:nvSpPr>
          <p:cNvPr id="6" name="Forme libre 5"/>
          <p:cNvSpPr>
            <a:spLocks noChangeArrowheads="1"/>
          </p:cNvSpPr>
          <p:nvPr/>
        </p:nvSpPr>
        <p:spPr bwMode="auto">
          <a:xfrm>
            <a:off x="5335270" y="7884416"/>
            <a:ext cx="170815" cy="271145"/>
          </a:xfrm>
          <a:custGeom>
            <a:avLst/>
            <a:gdLst>
              <a:gd name="G0" fmla="+- 0 0 0"/>
              <a:gd name="G1" fmla="+- -11796480 0 0"/>
              <a:gd name="G2" fmla="+- 0 0 -11796480"/>
              <a:gd name="G3" fmla="+- 10800 0 0"/>
              <a:gd name="G4" fmla="+- 0 0 0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5400 0 0"/>
              <a:gd name="G9" fmla="+- 0 0 -11796480"/>
              <a:gd name="G10" fmla="+- 5400 0 2700"/>
              <a:gd name="G11" fmla="cos G10 0"/>
              <a:gd name="G12" fmla="sin G10 0"/>
              <a:gd name="G13" fmla="cos 13500 0"/>
              <a:gd name="G14" fmla="sin 13500 0"/>
              <a:gd name="G15" fmla="+- G11 10800 0"/>
              <a:gd name="G16" fmla="+- G12 10800 0"/>
              <a:gd name="G17" fmla="+- G13 10800 0"/>
              <a:gd name="G18" fmla="+- G14 10800 0"/>
              <a:gd name="G19" fmla="*/ 5400 1 2"/>
              <a:gd name="G20" fmla="+- G19 5400 0"/>
              <a:gd name="G21" fmla="cos G20 0"/>
              <a:gd name="G22" fmla="sin G20 0"/>
              <a:gd name="G23" fmla="+- G21 10800 0"/>
              <a:gd name="G24" fmla="+- G12 G23 G22"/>
              <a:gd name="G25" fmla="+- G22 G23 G11"/>
              <a:gd name="G26" fmla="cos 10800 0"/>
              <a:gd name="G27" fmla="sin 10800 0"/>
              <a:gd name="G28" fmla="cos 5400 0"/>
              <a:gd name="G29" fmla="sin 5400 0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0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5400 G39"/>
              <a:gd name="G43" fmla="sin 5400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10800 w 21600"/>
              <a:gd name="T5" fmla="*/ 0 h 21600"/>
              <a:gd name="T6" fmla="*/ 2700 w 21600"/>
              <a:gd name="T7" fmla="*/ 10799 h 21600"/>
              <a:gd name="T8" fmla="*/ 10800 w 21600"/>
              <a:gd name="T9" fmla="*/ 5400 h 21600"/>
              <a:gd name="T10" fmla="*/ 24300 w 21600"/>
              <a:gd name="T11" fmla="*/ 10800 h 21600"/>
              <a:gd name="T12" fmla="*/ 18900 w 21600"/>
              <a:gd name="T13" fmla="*/ 16200 h 21600"/>
              <a:gd name="T14" fmla="*/ 13500 w 21600"/>
              <a:gd name="T15" fmla="*/ 10800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lnTo>
                  <a:pt x="0" y="10799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600" y="4835"/>
                  <a:pt x="21600" y="10800"/>
                </a:cubicBez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r" rtl="1"/>
            <a:endParaRPr lang="fr-FR" sz="3600"/>
          </a:p>
        </p:txBody>
      </p:sp>
      <p:sp>
        <p:nvSpPr>
          <p:cNvPr id="10" name="Flèche droite 9" hidden="1"/>
          <p:cNvSpPr>
            <a:spLocks/>
          </p:cNvSpPr>
          <p:nvPr/>
        </p:nvSpPr>
        <p:spPr>
          <a:xfrm>
            <a:off x="575310" y="978535"/>
            <a:ext cx="857250" cy="9429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882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2990"/>
            <a:ext cx="1185990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lang="ar-DZ" sz="4400" b="1" u="sng" dirty="0" smtClean="0">
                <a:solidFill>
                  <a:srgbClr val="FF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تدريب :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67509"/>
            <a:ext cx="11859904" cy="1647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r" rtl="1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ar-DZ" sz="3200" b="1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لنرسم علم الجزائر المتكون من : </a:t>
            </a:r>
            <a:endParaRPr lang="ar-DZ" sz="3200" b="1" dirty="0" smtClean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lvl="1" algn="r" rtl="1">
              <a:lnSpc>
                <a:spcPct val="107000"/>
              </a:lnSpc>
            </a:pPr>
            <a:r>
              <a:rPr lang="ar-DZ" sz="3200" b="1" dirty="0" smtClean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مستطيل </a:t>
            </a:r>
            <a:r>
              <a:rPr lang="ar-DZ" sz="3200" b="1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أخضر، مستطيل أبيض، هلال و نجمة </a:t>
            </a:r>
            <a:r>
              <a:rPr lang="ar-DZ" sz="3200" b="1" dirty="0" smtClean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أحمرين</a:t>
            </a:r>
          </a:p>
          <a:p>
            <a:pPr marL="342900" lvl="0" indent="-342900" algn="r" rtl="1">
              <a:lnSpc>
                <a:spcPct val="107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ar-DZ" sz="3200" b="1" dirty="0" smtClean="0">
                <a:ea typeface="Times New Roman" panose="02020603050405020304" pitchFamily="18" charset="0"/>
                <a:cs typeface="+mj-cs"/>
              </a:rPr>
              <a:t>احفظ </a:t>
            </a:r>
            <a:r>
              <a:rPr lang="ar-DZ" sz="3200" b="1" dirty="0">
                <a:ea typeface="Times New Roman" panose="02020603050405020304" pitchFamily="18" charset="0"/>
                <a:cs typeface="+mj-cs"/>
              </a:rPr>
              <a:t>هذا المشروع في مجلدك باسم "علم بلادي</a:t>
            </a:r>
            <a:r>
              <a:rPr lang="ar-DZ" sz="3200" b="1" dirty="0" smtClean="0">
                <a:ea typeface="Times New Roman" panose="02020603050405020304" pitchFamily="18" charset="0"/>
                <a:cs typeface="+mj-cs"/>
              </a:rPr>
              <a:t>"</a:t>
            </a:r>
            <a:endParaRPr lang="fr-FR" sz="3200" b="1" dirty="0">
              <a:cs typeface="+mj-cs"/>
            </a:endParaRPr>
          </a:p>
        </p:txBody>
      </p:sp>
      <p:pic>
        <p:nvPicPr>
          <p:cNvPr id="5" name="Imag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946" y="3195698"/>
            <a:ext cx="5923128" cy="2855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634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</TotalTime>
  <Words>288</Words>
  <Application>Microsoft Office PowerPoint</Application>
  <PresentationFormat>Grand écran</PresentationFormat>
  <Paragraphs>47</Paragraphs>
  <Slides>8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Compte Microsoft</cp:lastModifiedBy>
  <cp:revision>206</cp:revision>
  <dcterms:created xsi:type="dcterms:W3CDTF">2024-09-28T14:01:15Z</dcterms:created>
  <dcterms:modified xsi:type="dcterms:W3CDTF">2025-01-18T10:50:19Z</dcterms:modified>
</cp:coreProperties>
</file>