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1" r:id="rId5"/>
    <p:sldId id="260" r:id="rId6"/>
    <p:sldId id="259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4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241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3888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406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8557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088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4612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1213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540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4859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656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1495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E46DBA-FA3B-4C5F-B700-4671668DAB72}" type="datetimeFigureOut">
              <a:rPr lang="fr-FR" smtClean="0"/>
              <a:t>14/01/2025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9FB400-9542-4209-8750-C58872F72AA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0864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/>
          <p:cNvSpPr txBox="1"/>
          <p:nvPr/>
        </p:nvSpPr>
        <p:spPr>
          <a:xfrm>
            <a:off x="1714125" y="1236494"/>
            <a:ext cx="98777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lvl="0" indent="-685800" algn="r" rtl="1">
              <a:buFont typeface="Wingdings" panose="05000000000000000000" pitchFamily="2" charset="2"/>
              <a:buChar char="ü"/>
            </a:pPr>
            <a:r>
              <a:rPr lang="ar-DZ" sz="3600" dirty="0" smtClean="0"/>
              <a:t>ماذا نقصد بالصيغة </a:t>
            </a:r>
            <a:r>
              <a:rPr lang="ar-DZ" sz="3600" dirty="0" smtClean="0"/>
              <a:t>؟</a:t>
            </a:r>
          </a:p>
        </p:txBody>
      </p:sp>
      <p:sp>
        <p:nvSpPr>
          <p:cNvPr id="7" name="ZoneTexte 6"/>
          <p:cNvSpPr txBox="1"/>
          <p:nvPr/>
        </p:nvSpPr>
        <p:spPr>
          <a:xfrm>
            <a:off x="6250486" y="213739"/>
            <a:ext cx="5341393" cy="8427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07000"/>
              </a:lnSpc>
              <a:spcAft>
                <a:spcPts val="800"/>
              </a:spcAft>
            </a:pPr>
            <a:r>
              <a:rPr lang="ar-SA" sz="4800" b="1" u="sng" dirty="0">
                <a:solidFill>
                  <a:srgbClr val="00B0F0"/>
                </a:solidFill>
              </a:rPr>
              <a:t>تغذية راجعة :</a:t>
            </a:r>
            <a:endParaRPr lang="en-US" sz="4000" b="1" dirty="0">
              <a:solidFill>
                <a:srgbClr val="00B0F0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225466" y="1882825"/>
            <a:ext cx="11366413" cy="95410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lvl="0" algn="r" rtl="1"/>
            <a:r>
              <a:rPr lang="ar-DZ" sz="2800" b="1" dirty="0">
                <a:solidFill>
                  <a:srgbClr val="FF0000"/>
                </a:solidFill>
              </a:rPr>
              <a:t>هي عبارة حسابية أو منطقية مكونة من أعداد أو مراجع الخلايا تطبق عليها عمليات حسابية مثل (+ ، - ، </a:t>
            </a:r>
            <a:r>
              <a:rPr lang="fr-FR" sz="2800" b="1" dirty="0">
                <a:solidFill>
                  <a:srgbClr val="FF0000"/>
                </a:solidFill>
              </a:rPr>
              <a:t>*</a:t>
            </a:r>
            <a:r>
              <a:rPr lang="ar-DZ" sz="2800" b="1" dirty="0">
                <a:solidFill>
                  <a:srgbClr val="FF0000"/>
                </a:solidFill>
              </a:rPr>
              <a:t> ، </a:t>
            </a:r>
            <a:r>
              <a:rPr lang="fr-FR" sz="2800" b="1" dirty="0">
                <a:solidFill>
                  <a:srgbClr val="FF0000"/>
                </a:solidFill>
              </a:rPr>
              <a:t>/</a:t>
            </a:r>
            <a:r>
              <a:rPr lang="ar-DZ" sz="2800" b="1" dirty="0">
                <a:solidFill>
                  <a:srgbClr val="FF0000"/>
                </a:solidFill>
              </a:rPr>
              <a:t> ) أو منطقية مثل (و ، أو</a:t>
            </a:r>
            <a:r>
              <a:rPr lang="ar-DZ" sz="2800" b="1" dirty="0" smtClean="0">
                <a:solidFill>
                  <a:srgbClr val="FF0000"/>
                </a:solidFill>
              </a:rPr>
              <a:t>)</a:t>
            </a:r>
            <a:endParaRPr lang="ar-DZ" sz="2800" b="1" dirty="0">
              <a:solidFill>
                <a:srgbClr val="FF0000"/>
              </a:solidFill>
            </a:endParaRPr>
          </a:p>
        </p:txBody>
      </p:sp>
      <p:sp>
        <p:nvSpPr>
          <p:cNvPr id="3" name="ZoneTexte 2"/>
          <p:cNvSpPr txBox="1"/>
          <p:nvPr/>
        </p:nvSpPr>
        <p:spPr>
          <a:xfrm>
            <a:off x="225466" y="2951142"/>
            <a:ext cx="11366413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571500" lvl="0" indent="-571500" algn="r" rtl="1">
              <a:buFont typeface="Wingdings" panose="05000000000000000000" pitchFamily="2" charset="2"/>
              <a:buChar char="ü"/>
            </a:pPr>
            <a:r>
              <a:rPr lang="ar-DZ" sz="3600" dirty="0" smtClean="0"/>
              <a:t>ما هي مراحل كتابتها ؟</a:t>
            </a:r>
            <a:endParaRPr lang="ar-DZ" sz="3600" dirty="0"/>
          </a:p>
        </p:txBody>
      </p:sp>
      <p:sp>
        <p:nvSpPr>
          <p:cNvPr id="4" name="Rectangle 3"/>
          <p:cNvSpPr/>
          <p:nvPr/>
        </p:nvSpPr>
        <p:spPr>
          <a:xfrm>
            <a:off x="8646842" y="5436307"/>
            <a:ext cx="294503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685800" lvl="0" indent="-685800" algn="r" rtl="1">
              <a:buFont typeface="Wingdings" panose="05000000000000000000" pitchFamily="2" charset="2"/>
              <a:buChar char="ü"/>
            </a:pPr>
            <a:r>
              <a:rPr lang="ar-DZ" sz="3600" dirty="0"/>
              <a:t>و ما أنواعها </a:t>
            </a:r>
            <a:r>
              <a:rPr lang="ar-SA" sz="3600" dirty="0"/>
              <a:t>؟</a:t>
            </a:r>
            <a:endParaRPr lang="fr-FR" sz="3600" b="1" dirty="0"/>
          </a:p>
        </p:txBody>
      </p:sp>
      <p:sp>
        <p:nvSpPr>
          <p:cNvPr id="6" name="Rectangle 5"/>
          <p:cNvSpPr/>
          <p:nvPr/>
        </p:nvSpPr>
        <p:spPr>
          <a:xfrm>
            <a:off x="1954058" y="3597473"/>
            <a:ext cx="9637821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r" rtl="1">
              <a:buFontTx/>
              <a:buChar char="-"/>
            </a:pPr>
            <a:r>
              <a:rPr lang="ar-DZ" sz="2800" b="1" dirty="0" smtClean="0">
                <a:solidFill>
                  <a:srgbClr val="FF0000"/>
                </a:solidFill>
              </a:rPr>
              <a:t>نحدد </a:t>
            </a:r>
            <a:r>
              <a:rPr lang="ar-DZ" sz="2800" b="1" dirty="0">
                <a:solidFill>
                  <a:srgbClr val="FF0000"/>
                </a:solidFill>
              </a:rPr>
              <a:t>اللغة </a:t>
            </a:r>
            <a:r>
              <a:rPr lang="ar-DZ" sz="2800" b="1" dirty="0" smtClean="0">
                <a:solidFill>
                  <a:srgbClr val="FF0000"/>
                </a:solidFill>
              </a:rPr>
              <a:t>الفرنسية.</a:t>
            </a:r>
          </a:p>
          <a:p>
            <a:pPr marL="457200" indent="-457200" algn="r" rtl="1">
              <a:buFontTx/>
              <a:buChar char="-"/>
            </a:pPr>
            <a:r>
              <a:rPr lang="ar-DZ" sz="2800" b="1" dirty="0" smtClean="0">
                <a:solidFill>
                  <a:srgbClr val="FF0000"/>
                </a:solidFill>
              </a:rPr>
              <a:t>نحدد </a:t>
            </a:r>
            <a:r>
              <a:rPr lang="ar-DZ" sz="2800" b="1" dirty="0">
                <a:solidFill>
                  <a:srgbClr val="FF0000"/>
                </a:solidFill>
              </a:rPr>
              <a:t>الخلية التي نريد أن تظهر فيها </a:t>
            </a:r>
            <a:r>
              <a:rPr lang="ar-DZ" sz="2800" b="1" dirty="0" smtClean="0">
                <a:solidFill>
                  <a:srgbClr val="FF0000"/>
                </a:solidFill>
              </a:rPr>
              <a:t>النتيجة.</a:t>
            </a:r>
          </a:p>
          <a:p>
            <a:pPr marL="457200" indent="-457200" algn="r" rtl="1">
              <a:buFontTx/>
              <a:buChar char="-"/>
            </a:pPr>
            <a:r>
              <a:rPr lang="ar-DZ" sz="2800" b="1" dirty="0" smtClean="0">
                <a:solidFill>
                  <a:srgbClr val="FF0000"/>
                </a:solidFill>
              </a:rPr>
              <a:t>نكتب </a:t>
            </a:r>
            <a:r>
              <a:rPr lang="ar-DZ" sz="2800" b="1" dirty="0">
                <a:solidFill>
                  <a:srgbClr val="FF0000"/>
                </a:solidFill>
              </a:rPr>
              <a:t>الرمز = متبوعا بالعملية مثل </a:t>
            </a:r>
            <a:r>
              <a:rPr lang="ar-DZ" sz="2800" b="1" dirty="0" smtClean="0">
                <a:solidFill>
                  <a:srgbClr val="FF0000"/>
                </a:solidFill>
              </a:rPr>
              <a:t>: </a:t>
            </a:r>
            <a:r>
              <a:rPr lang="fr-FR" sz="2800" b="1" dirty="0" smtClean="0">
                <a:solidFill>
                  <a:srgbClr val="FF0000"/>
                </a:solidFill>
              </a:rPr>
              <a:t>=10+5</a:t>
            </a:r>
            <a:endParaRPr lang="ar-DZ" sz="2800" b="1" dirty="0" smtClean="0">
              <a:solidFill>
                <a:srgbClr val="FF0000"/>
              </a:solidFill>
            </a:endParaRPr>
          </a:p>
          <a:p>
            <a:pPr marL="457200" indent="-457200" algn="r" rtl="1">
              <a:buFontTx/>
              <a:buChar char="-"/>
            </a:pPr>
            <a:r>
              <a:rPr lang="ar-DZ" sz="2800" b="1" dirty="0" smtClean="0">
                <a:solidFill>
                  <a:srgbClr val="FF0000"/>
                </a:solidFill>
              </a:rPr>
              <a:t>نضغط </a:t>
            </a:r>
            <a:r>
              <a:rPr lang="ar-DZ" sz="2800" b="1" dirty="0">
                <a:solidFill>
                  <a:srgbClr val="FF0000"/>
                </a:solidFill>
              </a:rPr>
              <a:t>على </a:t>
            </a:r>
            <a:r>
              <a:rPr lang="ar-DZ" sz="2800" b="1" dirty="0" err="1">
                <a:solidFill>
                  <a:srgbClr val="FF0000"/>
                </a:solidFill>
              </a:rPr>
              <a:t>Entrée</a:t>
            </a:r>
            <a:r>
              <a:rPr lang="ar-DZ" sz="2800" b="1" dirty="0">
                <a:solidFill>
                  <a:srgbClr val="FF0000"/>
                </a:solidFill>
              </a:rPr>
              <a:t> فتظهر النتيجة.</a:t>
            </a:r>
          </a:p>
        </p:txBody>
      </p:sp>
      <p:sp>
        <p:nvSpPr>
          <p:cNvPr id="8" name="ZoneTexte 7"/>
          <p:cNvSpPr txBox="1"/>
          <p:nvPr/>
        </p:nvSpPr>
        <p:spPr>
          <a:xfrm>
            <a:off x="1412602" y="6059686"/>
            <a:ext cx="10179277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ar-DZ" sz="2800" b="1" dirty="0" smtClean="0">
                <a:solidFill>
                  <a:srgbClr val="FF0000"/>
                </a:solidFill>
              </a:rPr>
              <a:t>مباشرة و غير مباشرة</a:t>
            </a:r>
            <a:endParaRPr lang="ar-DZ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7793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/>
      <p:bldP spid="3" grpId="0"/>
      <p:bldP spid="4" grpId="0"/>
      <p:bldP spid="6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/>
          <p:cNvSpPr>
            <a:spLocks noGrp="1"/>
          </p:cNvSpPr>
          <p:nvPr>
            <p:ph type="ctrTitle"/>
          </p:nvPr>
        </p:nvSpPr>
        <p:spPr>
          <a:xfrm>
            <a:off x="400831" y="1064710"/>
            <a:ext cx="11398685" cy="2893513"/>
          </a:xfrm>
        </p:spPr>
        <p:txBody>
          <a:bodyPr>
            <a:normAutofit/>
          </a:bodyPr>
          <a:lstStyle/>
          <a:p>
            <a:pPr marL="857250" indent="-857250" algn="r" rtl="1">
              <a:buFont typeface="Wingdings" panose="05000000000000000000" pitchFamily="2" charset="2"/>
              <a:buChar char="Ø"/>
            </a:pPr>
            <a:r>
              <a:rPr lang="ar-DZ" sz="4400" dirty="0" smtClean="0"/>
              <a:t>إليك الصيغ التالية :</a:t>
            </a:r>
            <a:r>
              <a:rPr lang="fr-FR" sz="4400" dirty="0" smtClean="0"/>
              <a:t/>
            </a:r>
            <a:br>
              <a:rPr lang="fr-FR" sz="4400" dirty="0" smtClean="0"/>
            </a:br>
            <a:r>
              <a:rPr lang="fr-FR" sz="4400" dirty="0" smtClean="0"/>
              <a:t>= 10 – 5 + 4</a:t>
            </a:r>
            <a:br>
              <a:rPr lang="fr-FR" sz="4400" dirty="0" smtClean="0"/>
            </a:br>
            <a:r>
              <a:rPr lang="fr-FR" sz="4400" dirty="0" smtClean="0"/>
              <a:t>= 10 + 5 – 4</a:t>
            </a:r>
            <a:br>
              <a:rPr lang="fr-FR" sz="4400" dirty="0" smtClean="0"/>
            </a:br>
            <a:r>
              <a:rPr lang="fr-FR" sz="4400" dirty="0" smtClean="0"/>
              <a:t>= 10 + 5 * 4</a:t>
            </a:r>
            <a:endParaRPr lang="fr-FR" sz="4400" dirty="0"/>
          </a:p>
        </p:txBody>
      </p:sp>
      <p:sp>
        <p:nvSpPr>
          <p:cNvPr id="7" name="ZoneTexte 6"/>
          <p:cNvSpPr txBox="1"/>
          <p:nvPr/>
        </p:nvSpPr>
        <p:spPr>
          <a:xfrm>
            <a:off x="400831" y="4083485"/>
            <a:ext cx="11398685" cy="212365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857250" indent="-857250" algn="r" rtl="1">
              <a:buFont typeface="Wingdings" panose="05000000000000000000" pitchFamily="2" charset="2"/>
              <a:buChar char="Ø"/>
            </a:pPr>
            <a:r>
              <a:rPr lang="ar-SA" sz="4400" dirty="0" err="1"/>
              <a:t>بالإعتماد</a:t>
            </a:r>
            <a:r>
              <a:rPr lang="ar-SA" sz="4400" dirty="0"/>
              <a:t> على مكتسباتك في </a:t>
            </a:r>
            <a:r>
              <a:rPr lang="ar-SA" sz="4400" dirty="0" smtClean="0"/>
              <a:t>مادة</a:t>
            </a:r>
            <a:r>
              <a:rPr lang="fr-FR" sz="4400" dirty="0" smtClean="0"/>
              <a:t> </a:t>
            </a:r>
            <a:r>
              <a:rPr lang="ar-SA" sz="4400" dirty="0" smtClean="0"/>
              <a:t>الرياضيات</a:t>
            </a:r>
            <a:r>
              <a:rPr lang="ar-SA" sz="4400" dirty="0"/>
              <a:t>، ما </a:t>
            </a:r>
            <a:r>
              <a:rPr lang="ar-SA" sz="4400" dirty="0" smtClean="0"/>
              <a:t>نتيجة </a:t>
            </a:r>
            <a:r>
              <a:rPr lang="ar-SA" sz="4400" dirty="0"/>
              <a:t>كل صيغة </a:t>
            </a:r>
            <a:r>
              <a:rPr lang="ar-SA" sz="4400" dirty="0" smtClean="0"/>
              <a:t>؟</a:t>
            </a:r>
            <a:endParaRPr lang="ar-DZ" sz="4400" dirty="0" smtClean="0"/>
          </a:p>
          <a:p>
            <a:pPr marL="857250" indent="-857250" algn="r" rtl="1">
              <a:buFont typeface="Wingdings" panose="05000000000000000000" pitchFamily="2" charset="2"/>
              <a:buChar char="Ø"/>
            </a:pPr>
            <a:r>
              <a:rPr lang="ar-SA" sz="4400" dirty="0" smtClean="0"/>
              <a:t>هل </a:t>
            </a:r>
            <a:r>
              <a:rPr lang="ar-SA" sz="4400" dirty="0"/>
              <a:t>المجدول يعتمد على أولوية العمليات الحسابية ؟ </a:t>
            </a:r>
            <a:endParaRPr lang="ar-DZ" sz="4400" dirty="0"/>
          </a:p>
        </p:txBody>
      </p:sp>
      <p:sp>
        <p:nvSpPr>
          <p:cNvPr id="9" name="ZoneTexte 8"/>
          <p:cNvSpPr txBox="1"/>
          <p:nvPr/>
        </p:nvSpPr>
        <p:spPr>
          <a:xfrm>
            <a:off x="400831" y="307796"/>
            <a:ext cx="11398685" cy="76944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ar-DZ" sz="4400" b="1" u="sng" dirty="0" smtClean="0">
                <a:solidFill>
                  <a:srgbClr val="00B050"/>
                </a:solidFill>
              </a:rPr>
              <a:t>الوضعية</a:t>
            </a:r>
            <a:r>
              <a:rPr lang="ar-DZ" sz="4400" u="sng" dirty="0" smtClean="0">
                <a:solidFill>
                  <a:srgbClr val="00B050"/>
                </a:solidFill>
              </a:rPr>
              <a:t> </a:t>
            </a:r>
            <a:r>
              <a:rPr lang="ar-DZ" sz="4400" b="1" u="sng" dirty="0" err="1" smtClean="0">
                <a:solidFill>
                  <a:srgbClr val="00B050"/>
                </a:solidFill>
              </a:rPr>
              <a:t>الإنطلاقية</a:t>
            </a:r>
            <a:endParaRPr lang="ar-DZ" sz="4400" b="1" u="sng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606865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/>
          <p:cNvSpPr/>
          <p:nvPr/>
        </p:nvSpPr>
        <p:spPr>
          <a:xfrm>
            <a:off x="375781" y="78747"/>
            <a:ext cx="11511419" cy="6835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b="1" u="sng" dirty="0" smtClean="0">
                <a:solidFill>
                  <a:srgbClr val="FF0000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نشاط 01 :</a:t>
            </a:r>
            <a:r>
              <a:rPr lang="ar-DZ" sz="3200" b="1" u="sng" dirty="0">
                <a:solidFill>
                  <a:srgbClr val="FF000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ar-DZ" sz="3200" b="1" u="sng" dirty="0" smtClean="0">
              <a:solidFill>
                <a:srgbClr val="FF0000"/>
              </a:solidFill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ar-DZ" sz="3200" dirty="0" smtClean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أوجد نتيجة الصيغ التالية مستنتجا في كل مرة أولويات العمليات الحسابية :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5 – 2 + 3 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5 + 2 – 3 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5 + 2 * 3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5 - 3 / 3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15 / 3 * 2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5 + 3 * 2 ^ 4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lang="fr-FR" sz="3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= (5 + 3) * 2 ^ 4</a:t>
            </a:r>
            <a:endParaRPr lang="fr-FR" sz="3200" dirty="0" smtClean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r" rtl="1"/>
            <a:r>
              <a:rPr lang="ar-DZ" sz="3200" dirty="0" smtClea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ما هي إذن أولويات العمليات الحسابية في برنامج المجدول ؟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22176131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4829578" y="687878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313151" y="133880"/>
            <a:ext cx="1153647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ar-DZ" sz="2800" b="1" i="0" u="sng" strike="noStrike" cap="none" normalizeH="0" baseline="0" dirty="0" smtClean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نشاط 02 :</a:t>
            </a:r>
            <a:r>
              <a:rPr kumimoji="0" lang="ar-DZ" sz="2800" b="1" i="0" strike="noStrike" cap="none" normalizeH="0" dirty="0" smtClean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kumimoji="0" lang="ar-DZ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لنعيد فتح التدريب السابق :</a:t>
            </a:r>
            <a:endParaRPr kumimoji="0" lang="en-US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3073" name="Image 10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3269" y="766992"/>
            <a:ext cx="10426354" cy="3570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13151" y="4672600"/>
            <a:ext cx="11536472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457200" marR="0" lvl="0" indent="-4572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ar-DZ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لنكتب الصيغة باستعمال مراجع الخلايا في الخلية </a:t>
            </a:r>
            <a:r>
              <a:rPr kumimoji="0" lang="fr-FR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A3</a:t>
            </a:r>
            <a:endParaRPr kumimoji="0" lang="en-US" sz="2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marR="0" lvl="0" indent="-457200" algn="r" defTabSz="914400" rtl="1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ar-DZ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برأيك، هل نعيد هذه العملية في كل الخلايا الباقية أم هناك طريقة تسمح بتوفير الجهد و الوقت ؟ تأكد من إجابتك على الحاسوب. هل تظهر نفس النتيجة ؟ برأيك لماذا ؟ (لاحظ جيدا شريط الصيغة)</a:t>
            </a:r>
            <a:r>
              <a:rPr kumimoji="0" lang="fr-FR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kumimoji="0" lang="ar-DZ" sz="3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ماذا تستنتج ؟</a:t>
            </a:r>
            <a:r>
              <a:rPr kumimoji="0" 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sz="4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0624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Image 8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6389" y="3474714"/>
            <a:ext cx="1971675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 de texte 6"/>
          <p:cNvSpPr txBox="1"/>
          <p:nvPr/>
        </p:nvSpPr>
        <p:spPr>
          <a:xfrm>
            <a:off x="3830204" y="3122924"/>
            <a:ext cx="2080895" cy="457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endParaRPr lang="fr-FR" sz="160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3"/>
          <p:cNvSpPr>
            <a:spLocks noChangeArrowheads="1"/>
          </p:cNvSpPr>
          <p:nvPr/>
        </p:nvSpPr>
        <p:spPr bwMode="auto">
          <a:xfrm>
            <a:off x="3786389" y="2864737"/>
            <a:ext cx="18473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 sz="280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749301" y="274501"/>
            <a:ext cx="11163300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r" rtl="1"/>
            <a:r>
              <a:rPr lang="ar-DZ" sz="3200" b="1" u="sng" dirty="0" smtClean="0">
                <a:solidFill>
                  <a:srgbClr val="FF0000"/>
                </a:solidFill>
              </a:rPr>
              <a:t>1. </a:t>
            </a:r>
            <a:r>
              <a:rPr lang="ar-SA" sz="3200" b="1" u="sng" dirty="0" smtClean="0">
                <a:solidFill>
                  <a:srgbClr val="FF0000"/>
                </a:solidFill>
              </a:rPr>
              <a:t>أولويات </a:t>
            </a:r>
            <a:r>
              <a:rPr lang="ar-SA" sz="3200" b="1" u="sng" dirty="0">
                <a:solidFill>
                  <a:srgbClr val="FF0000"/>
                </a:solidFill>
              </a:rPr>
              <a:t>العمليات </a:t>
            </a:r>
            <a:r>
              <a:rPr lang="ar-SA" sz="3200" b="1" u="sng" dirty="0" smtClean="0">
                <a:solidFill>
                  <a:srgbClr val="FF0000"/>
                </a:solidFill>
              </a:rPr>
              <a:t>الحسابية</a:t>
            </a:r>
            <a:r>
              <a:rPr lang="ar-DZ" sz="3200" b="1" u="sng" dirty="0" smtClean="0">
                <a:solidFill>
                  <a:srgbClr val="FF0000"/>
                </a:solidFill>
              </a:rPr>
              <a:t> </a:t>
            </a:r>
            <a:r>
              <a:rPr lang="ar-SA" sz="3200" b="1" u="sng" dirty="0" smtClean="0">
                <a:solidFill>
                  <a:srgbClr val="FF0000"/>
                </a:solidFill>
              </a:rPr>
              <a:t>:</a:t>
            </a:r>
            <a:endParaRPr lang="en-US" sz="3200" dirty="0">
              <a:solidFill>
                <a:srgbClr val="FF0000"/>
              </a:solidFill>
            </a:endParaRPr>
          </a:p>
          <a:p>
            <a:pPr algn="r" rtl="1"/>
            <a:r>
              <a:rPr lang="ar-SA" sz="3200" dirty="0"/>
              <a:t>إ</a:t>
            </a:r>
            <a:r>
              <a:rPr lang="ar-DZ" sz="3200" dirty="0"/>
              <a:t>ذا كانت الصيغة تحتوي على عدة عمليات حسابية فإن المجدول يحسب النتيجة باستعمال أولويات العمليات الحسابية  وهي بالترتيب :</a:t>
            </a:r>
            <a:endParaRPr lang="en-US" sz="3200" dirty="0"/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/>
              <a:t>الصيغة ما بين الأقواس ( </a:t>
            </a:r>
            <a:r>
              <a:rPr lang="ar-DZ" sz="3200" dirty="0" smtClean="0"/>
              <a:t>)</a:t>
            </a: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 smtClean="0"/>
              <a:t>الأس </a:t>
            </a:r>
            <a:r>
              <a:rPr lang="fr-FR" sz="3200" dirty="0"/>
              <a:t>^ </a:t>
            </a:r>
            <a:endParaRPr lang="ar-DZ" sz="3200" dirty="0" smtClean="0"/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 smtClean="0"/>
              <a:t>الضرب </a:t>
            </a:r>
            <a:r>
              <a:rPr lang="ar-DZ" sz="3200" dirty="0"/>
              <a:t>والقسمة * ، /  : الأفضلية من اليسار إلى </a:t>
            </a:r>
            <a:r>
              <a:rPr lang="ar-DZ" sz="3200" dirty="0" smtClean="0"/>
              <a:t>اليمين</a:t>
            </a: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 smtClean="0"/>
              <a:t>الجمع </a:t>
            </a:r>
            <a:r>
              <a:rPr lang="ar-DZ" sz="3200" dirty="0"/>
              <a:t>والطرح + ، -   : الأفضلية من اليسار إلى </a:t>
            </a:r>
            <a:r>
              <a:rPr lang="ar-DZ" sz="3200" dirty="0" smtClean="0"/>
              <a:t>اليمين</a:t>
            </a:r>
            <a:endParaRPr lang="en-US" sz="3200" dirty="0"/>
          </a:p>
          <a:p>
            <a:pPr algn="r" rtl="1"/>
            <a:r>
              <a:rPr lang="ar-DZ" sz="3200" dirty="0"/>
              <a:t> </a:t>
            </a:r>
            <a:endParaRPr lang="en-US" sz="3200" dirty="0"/>
          </a:p>
          <a:p>
            <a:pPr lvl="0" algn="r" rtl="1"/>
            <a:r>
              <a:rPr lang="ar-DZ" sz="3200" b="1" u="sng" dirty="0" smtClean="0">
                <a:solidFill>
                  <a:srgbClr val="FF0000"/>
                </a:solidFill>
              </a:rPr>
              <a:t>2. نسخ </a:t>
            </a:r>
            <a:r>
              <a:rPr lang="ar-DZ" sz="3200" b="1" u="sng" dirty="0">
                <a:solidFill>
                  <a:srgbClr val="FF0000"/>
                </a:solidFill>
              </a:rPr>
              <a:t>الصيغ :</a:t>
            </a:r>
            <a:endParaRPr lang="en-US" sz="3200" dirty="0">
              <a:solidFill>
                <a:srgbClr val="FF0000"/>
              </a:solidFill>
            </a:endParaRP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/>
              <a:t>نحدد الخلية التي تحتوي على الصيغة بعد ظهور </a:t>
            </a:r>
            <a:r>
              <a:rPr lang="ar-DZ" sz="3200" dirty="0" smtClean="0"/>
              <a:t>النتيجة</a:t>
            </a:r>
            <a:endParaRPr lang="ar-DZ" sz="3200" dirty="0"/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 smtClean="0"/>
              <a:t>نضغط </a:t>
            </a:r>
            <a:r>
              <a:rPr lang="ar-DZ" sz="3200" dirty="0"/>
              <a:t>بالزر الأيمن للفأرة ونختار </a:t>
            </a:r>
            <a:r>
              <a:rPr lang="fr-FR" sz="3200" dirty="0" smtClean="0"/>
              <a:t>Copier</a:t>
            </a:r>
            <a:endParaRPr lang="en-US" sz="3200" dirty="0"/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200" dirty="0" smtClean="0"/>
              <a:t>نضغط بالزر الأيمن للفأرة على الخلايا التي نريد النسخ فيها و نختار </a:t>
            </a:r>
            <a:r>
              <a:rPr lang="fr-FR" sz="3200" dirty="0" smtClean="0"/>
              <a:t>Coller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168500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622649" y="117693"/>
            <a:ext cx="11376223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28384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 rtl="1"/>
            <a:r>
              <a:rPr lang="ar-DZ" sz="3600" b="1" u="sng" dirty="0">
                <a:solidFill>
                  <a:srgbClr val="FF0000"/>
                </a:solidFill>
                <a:cs typeface="+mj-cs"/>
              </a:rPr>
              <a:t>ملاحظة :</a:t>
            </a:r>
            <a:r>
              <a:rPr lang="ar-DZ" sz="3600" dirty="0">
                <a:solidFill>
                  <a:srgbClr val="FF0000"/>
                </a:solidFill>
                <a:cs typeface="+mj-cs"/>
              </a:rPr>
              <a:t> </a:t>
            </a:r>
            <a:r>
              <a:rPr lang="ar-DZ" sz="3600" dirty="0" smtClean="0">
                <a:cs typeface="+mj-cs"/>
              </a:rPr>
              <a:t>يمكن </a:t>
            </a:r>
            <a:r>
              <a:rPr lang="ar-DZ" sz="3600" dirty="0">
                <a:cs typeface="+mj-cs"/>
              </a:rPr>
              <a:t>نسخ الخلايا بطريقة أسهل </a:t>
            </a:r>
            <a:endParaRPr lang="en-US" sz="3600" dirty="0">
              <a:cs typeface="+mj-cs"/>
            </a:endParaRP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600" dirty="0">
                <a:cs typeface="+mj-cs"/>
              </a:rPr>
              <a:t>نحدد الخلية التي تحتوي على الصيغة بعد ظهور </a:t>
            </a:r>
            <a:r>
              <a:rPr lang="ar-DZ" sz="3600" dirty="0" smtClean="0">
                <a:cs typeface="+mj-cs"/>
              </a:rPr>
              <a:t>النتيجة</a:t>
            </a: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600" dirty="0" smtClean="0">
                <a:cs typeface="+mj-cs"/>
              </a:rPr>
              <a:t>نضع </a:t>
            </a:r>
            <a:r>
              <a:rPr lang="ar-DZ" sz="3600" dirty="0">
                <a:cs typeface="+mj-cs"/>
              </a:rPr>
              <a:t>المشيرة في المربع الأخضر في الزاوية اليمنى أو اليسرى في الأسفل حسب اتجاه ورقة العمل ليصبح شكلها  إلى </a:t>
            </a:r>
            <a:r>
              <a:rPr lang="ar-DZ" sz="3600" b="1" dirty="0" smtClean="0">
                <a:cs typeface="+mj-cs"/>
              </a:rPr>
              <a:t>+</a:t>
            </a:r>
            <a:endParaRPr lang="ar-DZ" sz="3600" dirty="0" smtClean="0">
              <a:cs typeface="+mj-cs"/>
            </a:endParaRPr>
          </a:p>
          <a:p>
            <a:pPr marL="971550" lvl="1" indent="-514350" algn="r" rtl="1">
              <a:buFont typeface="+mj-lt"/>
              <a:buAutoNum type="arabicPeriod"/>
            </a:pPr>
            <a:r>
              <a:rPr lang="ar-DZ" sz="3600" dirty="0" smtClean="0">
                <a:cs typeface="+mj-cs"/>
              </a:rPr>
              <a:t>نضغط </a:t>
            </a:r>
            <a:r>
              <a:rPr lang="ar-DZ" sz="3600" dirty="0">
                <a:cs typeface="+mj-cs"/>
              </a:rPr>
              <a:t>بالزر الأيسر للفأرة ونسحب إلى كل الخلايا المتبقية دون رفع اليد</a:t>
            </a:r>
            <a:r>
              <a:rPr lang="fr-FR" sz="3600" dirty="0" smtClean="0">
                <a:cs typeface="+mj-cs"/>
              </a:rPr>
              <a:t>.</a:t>
            </a:r>
            <a:endParaRPr lang="ar-DZ" sz="3600" dirty="0" smtClean="0">
              <a:cs typeface="+mj-cs"/>
            </a:endParaRPr>
          </a:p>
          <a:p>
            <a:pPr lvl="1" algn="r" rtl="1"/>
            <a:endParaRPr lang="en-US" sz="3600" dirty="0">
              <a:cs typeface="+mj-cs"/>
            </a:endParaRPr>
          </a:p>
          <a:p>
            <a:pPr algn="r"/>
            <a:r>
              <a:rPr lang="ar-DZ" sz="3600" b="1" u="sng" dirty="0" smtClean="0">
                <a:solidFill>
                  <a:srgbClr val="FF0000"/>
                </a:solidFill>
                <a:ea typeface="Calibri" panose="020F0502020204030204" pitchFamily="34" charset="0"/>
                <a:cs typeface="+mj-cs"/>
              </a:rPr>
              <a:t>التدريب </a:t>
            </a:r>
            <a:r>
              <a:rPr lang="ar-DZ" sz="3600" b="1" u="sng" dirty="0" smtClean="0">
                <a:solidFill>
                  <a:srgbClr val="FF0000"/>
                </a:solidFill>
                <a:cs typeface="+mj-cs"/>
              </a:rPr>
              <a:t>:</a:t>
            </a:r>
            <a:r>
              <a:rPr lang="ar-DZ" sz="3600" dirty="0" smtClean="0">
                <a:cs typeface="+mj-cs"/>
              </a:rPr>
              <a:t> إليـك </a:t>
            </a:r>
            <a:r>
              <a:rPr lang="ar-DZ" sz="3600" dirty="0">
                <a:cs typeface="+mj-cs"/>
              </a:rPr>
              <a:t>العمليـات الحسابية التالية، قم بحسابها باستعمال المجـدول :</a:t>
            </a:r>
            <a:endParaRPr lang="en-US" sz="3600" dirty="0">
              <a:cs typeface="+mj-cs"/>
            </a:endParaRPr>
          </a:p>
          <a:p>
            <a:pPr lvl="0" algn="r" rtl="1"/>
            <a:r>
              <a:rPr lang="ar-DZ" sz="3600" dirty="0">
                <a:cs typeface="+mj-cs"/>
              </a:rPr>
              <a:t>4 * 3 + 2 ^ 6 =</a:t>
            </a:r>
            <a:endParaRPr lang="en-US" sz="3600" dirty="0">
              <a:cs typeface="+mj-cs"/>
            </a:endParaRPr>
          </a:p>
          <a:p>
            <a:pPr lvl="0" algn="r" rtl="1"/>
            <a:r>
              <a:rPr lang="fr-FR" sz="3600" dirty="0">
                <a:cs typeface="+mj-cs"/>
              </a:rPr>
              <a:t> ( 8 + 5 ) * 4 - ( 8 + 2 ) – 1 + 2</a:t>
            </a:r>
            <a:r>
              <a:rPr lang="ar-DZ" sz="3600" dirty="0">
                <a:cs typeface="+mj-cs"/>
              </a:rPr>
              <a:t>=</a:t>
            </a:r>
            <a:r>
              <a:rPr lang="fr-FR" sz="3600" dirty="0">
                <a:cs typeface="+mj-cs"/>
              </a:rPr>
              <a:t>  </a:t>
            </a:r>
            <a:endParaRPr lang="en-US" sz="3600" dirty="0">
              <a:cs typeface="+mj-cs"/>
            </a:endParaRPr>
          </a:p>
          <a:p>
            <a:pPr lvl="0" algn="r" rtl="1"/>
            <a:r>
              <a:rPr lang="fr-FR" sz="3600" dirty="0">
                <a:cs typeface="+mj-cs"/>
              </a:rPr>
              <a:t>= 8 * 3 - 7 + 6 / 2 + 3</a:t>
            </a:r>
            <a:endParaRPr lang="en-US" sz="3600" dirty="0">
              <a:cs typeface="+mj-cs"/>
            </a:endParaRPr>
          </a:p>
          <a:p>
            <a:pPr algn="r"/>
            <a:r>
              <a:rPr lang="fr-FR" sz="3600" dirty="0">
                <a:cs typeface="+mj-cs"/>
              </a:rPr>
              <a:t>= 9 ^ 2 + 6 – 2 + 5 * 4 / </a:t>
            </a:r>
            <a:r>
              <a:rPr lang="fr-FR" sz="3600" dirty="0" smtClean="0">
                <a:cs typeface="+mj-cs"/>
              </a:rPr>
              <a:t>2</a:t>
            </a:r>
            <a:endParaRPr lang="en-US" sz="3600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0320951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407</Words>
  <Application>Microsoft Office PowerPoint</Application>
  <PresentationFormat>Grand écran</PresentationFormat>
  <Paragraphs>48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Wingdings</vt:lpstr>
      <vt:lpstr>Thème Office</vt:lpstr>
      <vt:lpstr>Présentation PowerPoint</vt:lpstr>
      <vt:lpstr>إليك الصيغ التالية : = 10 – 5 + 4 = 10 + 5 – 4 = 10 + 5 * 4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Compte Microsoft</cp:lastModifiedBy>
  <cp:revision>103</cp:revision>
  <dcterms:created xsi:type="dcterms:W3CDTF">2024-02-06T22:26:16Z</dcterms:created>
  <dcterms:modified xsi:type="dcterms:W3CDTF">2025-01-14T18:59:29Z</dcterms:modified>
</cp:coreProperties>
</file>