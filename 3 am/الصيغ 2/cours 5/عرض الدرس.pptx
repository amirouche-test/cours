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1" r:id="rId5"/>
    <p:sldId id="260" r:id="rId6"/>
    <p:sldId id="259" r:id="rId7"/>
    <p:sldId id="264" r:id="rId8"/>
    <p:sldId id="265" r:id="rId9"/>
    <p:sldId id="258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41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38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06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55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08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61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121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254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85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65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49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46DBA-FA3B-4C5F-B700-4671668DAB72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86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552928" y="494200"/>
            <a:ext cx="96720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5400" b="1" dirty="0"/>
              <a:t>ممّ تتكون واجهة المجدول ؟</a:t>
            </a:r>
            <a:endParaRPr lang="fr-FR" sz="5400" b="1" dirty="0"/>
          </a:p>
        </p:txBody>
      </p:sp>
      <p:pic>
        <p:nvPicPr>
          <p:cNvPr id="6" name="Imag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206" y="1627406"/>
            <a:ext cx="11475075" cy="4743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7779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08714" y="374533"/>
            <a:ext cx="7439848" cy="5299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SA" sz="4000" b="1" i="1" u="sng" dirty="0" smtClean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وضعية </a:t>
            </a:r>
            <a:r>
              <a:rPr lang="ar-SA" sz="4000" b="1" i="1" u="sng" dirty="0" err="1" smtClean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انطلاقية</a:t>
            </a:r>
            <a:r>
              <a:rPr lang="ar-SA" sz="4000" b="1" i="1" u="sng" dirty="0" smtClean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sz="3200" b="1" i="1" dirty="0" smtClean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أين تظهر هذه العبارات في واجهة المجدول ؟</a:t>
            </a:r>
            <a:endParaRPr lang="fr-FR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fr-FR" sz="3200" b="1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5 + 10</a:t>
            </a:r>
            <a:endParaRPr lang="fr-FR" sz="3200" dirty="0" smtClean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fr-FR" sz="3200" b="1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A1 + A5</a:t>
            </a:r>
            <a:endParaRPr lang="fr-FR" sz="3200" dirty="0" smtClean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fr-FR" sz="3200" b="1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A5 + 500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برأيك، كيف تسمى هذه العبارات ؟</a:t>
            </a:r>
            <a:endParaRPr lang="fr-FR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r>
              <a:rPr lang="ar-DZ" sz="40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اتصل بالإجابة الصحيحة. (</a:t>
            </a:r>
            <a:r>
              <a:rPr lang="fr-FR" sz="4000" b="1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51678</a:t>
            </a:r>
            <a:r>
              <a:rPr lang="ar-DZ" sz="4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</a:t>
            </a:r>
            <a:endParaRPr lang="fr-FR" sz="4000" dirty="0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340928" y="903156"/>
            <a:ext cx="3947737" cy="494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686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7349503" y="3659861"/>
            <a:ext cx="3507386" cy="61592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عبارات</a:t>
            </a:r>
            <a:r>
              <a:rPr lang="ar-D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DZ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حسابية</a:t>
            </a:r>
            <a:endParaRPr lang="fr-F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5" t="3555" r="73333" b="63835"/>
          <a:stretch/>
        </p:blipFill>
        <p:spPr bwMode="auto">
          <a:xfrm>
            <a:off x="9311430" y="461427"/>
            <a:ext cx="2805726" cy="3131772"/>
          </a:xfrm>
          <a:prstGeom prst="rect">
            <a:avLst/>
          </a:prstGeom>
          <a:ln w="9525" cap="flat" cmpd="sng" algn="ctr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/>
          <p:cNvSpPr/>
          <p:nvPr/>
        </p:nvSpPr>
        <p:spPr>
          <a:xfrm>
            <a:off x="7894308" y="-73436"/>
            <a:ext cx="2967479" cy="6227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SA" sz="3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إليك السندات التالية :</a:t>
            </a: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5" t="3516" r="73619" b="63997"/>
          <a:stretch/>
        </p:blipFill>
        <p:spPr bwMode="auto">
          <a:xfrm>
            <a:off x="6246260" y="461431"/>
            <a:ext cx="2963821" cy="3131772"/>
          </a:xfrm>
          <a:prstGeom prst="rect">
            <a:avLst/>
          </a:prstGeom>
          <a:ln w="9525" cap="flat" cmpd="sng" algn="ctr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6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3" t="3718" r="70689" b="64104"/>
          <a:stretch/>
        </p:blipFill>
        <p:spPr bwMode="auto">
          <a:xfrm>
            <a:off x="2930507" y="461427"/>
            <a:ext cx="2963916" cy="3131772"/>
          </a:xfrm>
          <a:prstGeom prst="rect">
            <a:avLst/>
          </a:prstGeom>
          <a:ln w="9525" cap="flat" cmpd="sng" algn="ctr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Image 7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2" t="3589" r="71114" b="64126"/>
          <a:stretch/>
        </p:blipFill>
        <p:spPr bwMode="auto">
          <a:xfrm>
            <a:off x="53790" y="461429"/>
            <a:ext cx="2775367" cy="3117302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0" name="Connecteur droit 9"/>
          <p:cNvCxnSpPr/>
          <p:nvPr/>
        </p:nvCxnSpPr>
        <p:spPr>
          <a:xfrm>
            <a:off x="6080516" y="192565"/>
            <a:ext cx="0" cy="401882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482057" y="3627257"/>
            <a:ext cx="2854170" cy="70003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عبارات منطقية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791" y="4342718"/>
            <a:ext cx="11884928" cy="2466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15000"/>
              </a:lnSpc>
              <a:spcAft>
                <a:spcPts val="1000"/>
              </a:spcAft>
            </a:pPr>
            <a:r>
              <a:rPr lang="ar-SA" sz="3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أكمل البيانات معتمدا على السندات و على المصطلحات كي تتحصل على</a:t>
            </a:r>
            <a:r>
              <a:rPr lang="ar-DZ" sz="3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مفهوم الصيغة </a:t>
            </a:r>
            <a:r>
              <a:rPr lang="ar-SA" sz="3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 rtl="1">
              <a:lnSpc>
                <a:spcPct val="115000"/>
              </a:lnSpc>
              <a:spcAft>
                <a:spcPts val="1000"/>
              </a:spcAft>
            </a:pPr>
            <a:r>
              <a:rPr lang="ar-SA" sz="3200" b="1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مراجع الخلايا ــــ   أعداد  ــــ   منطقية   ـــ   حسابية  ـــ  منطقية   ـــ   حسابية  ـــ  </a:t>
            </a:r>
            <a:endParaRPr lang="fr-FR" sz="2400" dirty="0" smtClean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الصيغة هي عبارة ............ أو ............ مكونة من ........... أو </a:t>
            </a:r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....</a:t>
            </a:r>
            <a:r>
              <a:rPr lang="ar-DZ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..</a:t>
            </a:r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.........</a:t>
            </a:r>
            <a:r>
              <a:rPr lang="ar-DZ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تطبق </a:t>
            </a:r>
            <a:r>
              <a:rPr lang="ar-SA" sz="3200" dirty="0" err="1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عليھا</a:t>
            </a:r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عمليات ........... مثل (+ ، - ، *</a:t>
            </a:r>
            <a:r>
              <a:rPr lang="ar-DZ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، /)  </a:t>
            </a:r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أو ....................  مثل </a:t>
            </a:r>
            <a:r>
              <a:rPr lang="fr-FR" sz="32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) </a:t>
            </a:r>
            <a:r>
              <a:rPr lang="ar-SA" sz="32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و، أو</a:t>
            </a:r>
            <a:r>
              <a:rPr lang="fr-FR" sz="32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endParaRPr lang="fr-FR" sz="3200" dirty="0"/>
          </a:p>
        </p:txBody>
      </p:sp>
      <p:sp>
        <p:nvSpPr>
          <p:cNvPr id="2" name="ZoneTexte 1"/>
          <p:cNvSpPr txBox="1"/>
          <p:nvPr/>
        </p:nvSpPr>
        <p:spPr>
          <a:xfrm>
            <a:off x="8229600" y="5774499"/>
            <a:ext cx="125260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ar-SA" sz="28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حسابية</a:t>
            </a:r>
            <a:endParaRPr lang="ar-DZ" sz="2800" dirty="0">
              <a:solidFill>
                <a:srgbClr val="00B0F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995803" y="5768236"/>
            <a:ext cx="116783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ar-DZ" sz="2800" b="1" dirty="0" smtClean="0">
                <a:solidFill>
                  <a:srgbClr val="00B0F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أعداد</a:t>
            </a:r>
            <a:endParaRPr lang="ar-DZ" sz="2400" dirty="0">
              <a:solidFill>
                <a:srgbClr val="00B0F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528971" y="5768236"/>
            <a:ext cx="136533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ar-SA" sz="28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منطقية</a:t>
            </a:r>
            <a:endParaRPr lang="ar-DZ" sz="2400" dirty="0">
              <a:solidFill>
                <a:srgbClr val="00B0F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9644955" y="6248690"/>
            <a:ext cx="121193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ar-SA" sz="28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حسابية</a:t>
            </a:r>
            <a:endParaRPr lang="ar-DZ" sz="2800" dirty="0">
              <a:solidFill>
                <a:srgbClr val="00B0F0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428964" y="6282320"/>
            <a:ext cx="208223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ar-SA" sz="28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منطقية</a:t>
            </a:r>
            <a:endParaRPr lang="ar-DZ" sz="2800" dirty="0">
              <a:solidFill>
                <a:srgbClr val="00B0F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1897691" y="5768236"/>
            <a:ext cx="180665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ar-SA" sz="28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مراجع الخلايا</a:t>
            </a:r>
            <a:endParaRPr lang="ar-DZ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6131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vron 1"/>
          <p:cNvSpPr/>
          <p:nvPr/>
        </p:nvSpPr>
        <p:spPr>
          <a:xfrm>
            <a:off x="7016237" y="3686187"/>
            <a:ext cx="4752303" cy="2009108"/>
          </a:xfrm>
          <a:prstGeom prst="chevr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"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نحول لغة الكتابة إلى اللغة الفرنسية</a:t>
            </a:r>
            <a:endParaRPr lang="fr-FR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Chevron 2"/>
          <p:cNvSpPr/>
          <p:nvPr/>
        </p:nvSpPr>
        <p:spPr>
          <a:xfrm>
            <a:off x="636872" y="3593891"/>
            <a:ext cx="5628068" cy="2193700"/>
          </a:xfrm>
          <a:prstGeom prst="chevron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" algn="r" rtl="1">
              <a:lnSpc>
                <a:spcPct val="115000"/>
              </a:lnSpc>
              <a:spcAft>
                <a:spcPts val="1000"/>
              </a:spcAft>
            </a:pPr>
            <a:r>
              <a:rPr lang="ar-SA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نحدد الخلية التي نريد أن تظهر فيها النتيجة</a:t>
            </a:r>
            <a:endParaRPr lang="fr-FR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Chevron 3"/>
          <p:cNvSpPr/>
          <p:nvPr/>
        </p:nvSpPr>
        <p:spPr>
          <a:xfrm>
            <a:off x="6464561" y="1303431"/>
            <a:ext cx="5482671" cy="2021983"/>
          </a:xfrm>
          <a:prstGeom prst="chevron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نكتب الرمز = متبوعا </a:t>
            </a:r>
            <a:r>
              <a:rPr lang="ar-DZ" sz="3200" b="1" dirty="0" smtClean="0">
                <a:solidFill>
                  <a:srgbClr val="7030A0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بالعملية </a:t>
            </a:r>
            <a:r>
              <a:rPr lang="ar-DZ" sz="3200" b="1" dirty="0" smtClean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3+10</a:t>
            </a:r>
            <a:endParaRPr lang="fr-FR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540279" y="1258356"/>
            <a:ext cx="5705341" cy="2112132"/>
          </a:xfrm>
          <a:prstGeom prst="chevron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"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نضغط على </a:t>
            </a:r>
            <a:r>
              <a:rPr lang="fr-FR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Entrée</a:t>
            </a:r>
            <a:r>
              <a:rPr lang="ar-DZ" sz="3200" b="1" dirty="0">
                <a:solidFill>
                  <a:srgbClr val="7030A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فتظهر النتيجة</a:t>
            </a:r>
            <a:endParaRPr lang="fr-FR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68477" y="360551"/>
            <a:ext cx="7117654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رتب المراحل التالية لاستنتاج مراحل كتابة الصيغة : 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914326" y="5893403"/>
            <a:ext cx="4854214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قم إلى الحاسوب و تأكد من المراحل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1010451" y="4455971"/>
            <a:ext cx="334083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1</a:t>
            </a:r>
            <a:endParaRPr lang="ar-DZ" sz="2400" b="1" dirty="0">
              <a:solidFill>
                <a:srgbClr val="FF000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492735" y="2081796"/>
            <a:ext cx="334083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4</a:t>
            </a:r>
            <a:endParaRPr lang="ar-DZ" sz="2400" b="1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1190018" y="2069270"/>
            <a:ext cx="334083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3</a:t>
            </a:r>
            <a:endParaRPr lang="ar-DZ" sz="2400" b="1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480210" y="4438831"/>
            <a:ext cx="334083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2</a:t>
            </a:r>
            <a:endParaRPr lang="ar-DZ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9062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Imag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389" y="3474714"/>
            <a:ext cx="1971675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 de texte 6"/>
          <p:cNvSpPr txBox="1"/>
          <p:nvPr/>
        </p:nvSpPr>
        <p:spPr>
          <a:xfrm>
            <a:off x="3830204" y="3122924"/>
            <a:ext cx="2080895" cy="4571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786389" y="2864737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 sz="280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335362" y="0"/>
            <a:ext cx="7856638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قم بكتابة هذه الصيغة في الخلية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C10  :  = 50 + 10  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ما هي نتيجتها ؟ مم تتكون هذه الصيغة ؟ </a:t>
            </a: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حل المتاهة لتتعرف على نوع هذه الصيغة.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DZ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 الآن بكتابة العدد 100 في الخلية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A1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و العدد 20 في الخلية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قم بكتابة هذه الصيغة في الخلية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F10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: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A1 + B1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ما هي نتيجتها ؟ برأيك كيف تحصلنا على هذه النتيجة ؟ </a:t>
            </a: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مم تتكون هذه الصيغة ؟ 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قم بتغيير قيمة الخلية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A1</a:t>
            </a: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إلى 200. ما ذا تلاحظ ؟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بما أنّ الصيغة السابقة مباشرة إذن هذه الصيغة .........................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إذن ما هي أنواع الصيغ ؟</a:t>
            </a:r>
            <a:r>
              <a:rPr kumimoji="0" lang="fr-FR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fr-FR" sz="3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94727" cy="508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8500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229310" y="125902"/>
            <a:ext cx="3007555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38450" algn="l"/>
              </a:tabLst>
            </a:pPr>
            <a:r>
              <a:rPr kumimoji="0" lang="ar-SA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إليك الجدول التالي</a:t>
            </a:r>
            <a:r>
              <a:rPr kumimoji="0" lang="ar-DZ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r>
              <a:rPr kumimoji="0" lang="ar-SA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38450" algn="l"/>
              </a:tabLst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7" name="Imag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1" y="810379"/>
            <a:ext cx="11975309" cy="464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49591" y="5735055"/>
            <a:ext cx="113095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38450" algn="l"/>
              </a:tabLst>
            </a:pPr>
            <a:r>
              <a:rPr kumimoji="0" lang="ar-DZ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قم بحساب مبلغ بعض الأجهزة بالصيغ المباشرة و البعض الآخر بالصيغ غير المباشرة</a:t>
            </a:r>
            <a:endParaRPr kumimoji="0" lang="ar-DZ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2095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0208" y="0"/>
            <a:ext cx="11849622" cy="6810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rtl="1">
              <a:lnSpc>
                <a:spcPct val="115000"/>
              </a:lnSpc>
              <a:spcAft>
                <a:spcPts val="1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ar-DZ" sz="3200" b="1" u="sng" dirty="0" smtClean="0">
                <a:solidFill>
                  <a:srgbClr val="FF0000"/>
                </a:solidFill>
                <a:cs typeface="+mj-cs"/>
              </a:rPr>
              <a:t> مفهوم </a:t>
            </a:r>
            <a:r>
              <a:rPr lang="ar-DZ" sz="3200" b="1" u="sng" dirty="0">
                <a:solidFill>
                  <a:srgbClr val="FF0000"/>
                </a:solidFill>
                <a:cs typeface="+mj-cs"/>
              </a:rPr>
              <a:t>الصيغة :</a:t>
            </a:r>
            <a:endParaRPr lang="en-US" sz="2400" b="1" u="sng" dirty="0">
              <a:solidFill>
                <a:srgbClr val="FF0000"/>
              </a:solidFill>
              <a:cs typeface="+mj-cs"/>
            </a:endParaRPr>
          </a:p>
          <a:p>
            <a:pPr marL="228600" algn="r" rtl="1">
              <a:lnSpc>
                <a:spcPct val="107000"/>
              </a:lnSpc>
              <a:spcAft>
                <a:spcPts val="800"/>
              </a:spcAft>
            </a:pPr>
            <a:r>
              <a:rPr lang="ar-SA" sz="3200" b="1" dirty="0">
                <a:cs typeface="+mj-cs"/>
              </a:rPr>
              <a:t>هي عبارة حسابية أو منطقية مكونة من أعداد أو مراجع خلايا تطبق </a:t>
            </a:r>
            <a:r>
              <a:rPr lang="ar-SA" sz="3200" b="1" dirty="0" err="1">
                <a:cs typeface="+mj-cs"/>
              </a:rPr>
              <a:t>عليھا</a:t>
            </a:r>
            <a:r>
              <a:rPr lang="ar-SA" sz="3200" b="1" dirty="0">
                <a:cs typeface="+mj-cs"/>
              </a:rPr>
              <a:t> عمليات حسابية مثل (* ، + ، - ، / ) أو منطقية مثل ( و ، أو )</a:t>
            </a:r>
            <a:r>
              <a:rPr lang="ar-DZ" sz="3200" b="1" dirty="0">
                <a:cs typeface="+mj-cs"/>
              </a:rPr>
              <a:t>.</a:t>
            </a:r>
            <a:endParaRPr lang="en-US" sz="2400" b="1" dirty="0">
              <a:cs typeface="+mj-cs"/>
            </a:endParaRPr>
          </a:p>
          <a:p>
            <a:pPr marL="228600" algn="r" rtl="1">
              <a:lnSpc>
                <a:spcPct val="107000"/>
              </a:lnSpc>
              <a:spcAft>
                <a:spcPts val="800"/>
              </a:spcAft>
            </a:pPr>
            <a:r>
              <a:rPr lang="ar-DZ" sz="3200" b="1" dirty="0">
                <a:cs typeface="+mj-cs"/>
              </a:rPr>
              <a:t> </a:t>
            </a:r>
            <a:endParaRPr lang="en-US" sz="2400" b="1" dirty="0" smtClean="0">
              <a:cs typeface="+mj-cs"/>
            </a:endParaRPr>
          </a:p>
          <a:p>
            <a:pPr lvl="0" algn="r" rtl="1">
              <a:lnSpc>
                <a:spcPct val="115000"/>
              </a:lnSpc>
              <a:spcAft>
                <a:spcPts val="1000"/>
              </a:spcAft>
              <a:buClr>
                <a:srgbClr val="FF0000"/>
              </a:buClr>
            </a:pPr>
            <a:r>
              <a:rPr lang="ar-DZ" sz="3200" b="1" u="sng" dirty="0" smtClean="0">
                <a:solidFill>
                  <a:srgbClr val="FF0000"/>
                </a:solidFill>
                <a:cs typeface="+mj-cs"/>
              </a:rPr>
              <a:t>2. </a:t>
            </a:r>
            <a:r>
              <a:rPr lang="ar-SA" sz="3200" b="1" u="sng" dirty="0" smtClean="0">
                <a:solidFill>
                  <a:srgbClr val="FF0000"/>
                </a:solidFill>
                <a:cs typeface="+mj-cs"/>
              </a:rPr>
              <a:t>مراحل كتابة الصيغ :</a:t>
            </a:r>
            <a:endParaRPr lang="en-US" sz="2400" b="1" dirty="0" smtClean="0">
              <a:solidFill>
                <a:srgbClr val="FF0000"/>
              </a:solidFill>
              <a:cs typeface="+mj-cs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Times New Roman" panose="02020603050405020304" pitchFamily="18" charset="0"/>
              <a:buChar char="-"/>
            </a:pPr>
            <a:r>
              <a:rPr lang="ar-DZ" sz="3200" b="1" dirty="0" smtClean="0">
                <a:cs typeface="+mj-cs"/>
              </a:rPr>
              <a:t>نحدد </a:t>
            </a:r>
            <a:r>
              <a:rPr lang="ar-DZ" sz="3200" b="1" dirty="0">
                <a:cs typeface="+mj-cs"/>
              </a:rPr>
              <a:t>اللغة الفرنسية.</a:t>
            </a:r>
            <a:endParaRPr lang="en-US" sz="2400" b="1" dirty="0">
              <a:cs typeface="+mj-cs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Times New Roman" panose="02020603050405020304" pitchFamily="18" charset="0"/>
              <a:buChar char="-"/>
            </a:pPr>
            <a:r>
              <a:rPr lang="ar-DZ" sz="3200" b="1" dirty="0">
                <a:cs typeface="+mj-cs"/>
              </a:rPr>
              <a:t>نحدد الخلية التي نريد أن تظهر فيها النتيجة.</a:t>
            </a:r>
            <a:endParaRPr lang="en-US" sz="2400" b="1" dirty="0">
              <a:cs typeface="+mj-cs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Times New Roman" panose="02020603050405020304" pitchFamily="18" charset="0"/>
              <a:buChar char="-"/>
            </a:pPr>
            <a:r>
              <a:rPr lang="ar-DZ" sz="3200" b="1" dirty="0">
                <a:cs typeface="+mj-cs"/>
              </a:rPr>
              <a:t>نكتب الرمز = متبوعا بالعملية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مثل : </a:t>
            </a:r>
            <a:r>
              <a:rPr lang="fr-FR" sz="3200" b="1" dirty="0">
                <a:cs typeface="+mj-cs"/>
              </a:rPr>
              <a:t>=5+10</a:t>
            </a:r>
            <a:endParaRPr lang="en-US" sz="2400" b="1" dirty="0">
              <a:cs typeface="+mj-cs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Times New Roman" panose="02020603050405020304" pitchFamily="18" charset="0"/>
              <a:buChar char="-"/>
            </a:pPr>
            <a:r>
              <a:rPr lang="ar-DZ" sz="3200" b="1" dirty="0">
                <a:cs typeface="+mj-cs"/>
              </a:rPr>
              <a:t>نضغط على </a:t>
            </a:r>
            <a:r>
              <a:rPr lang="fr-FR" sz="3200" b="1" dirty="0">
                <a:cs typeface="+mj-cs"/>
              </a:rPr>
              <a:t>Entrée</a:t>
            </a:r>
            <a:r>
              <a:rPr lang="ar-DZ" sz="3200" b="1" dirty="0">
                <a:cs typeface="+mj-cs"/>
              </a:rPr>
              <a:t> فتظهر النتيجة</a:t>
            </a:r>
            <a:r>
              <a:rPr lang="ar-DZ" sz="3200" b="1" dirty="0" smtClean="0">
                <a:cs typeface="+mj-cs"/>
              </a:rPr>
              <a:t>.</a:t>
            </a:r>
          </a:p>
          <a:p>
            <a:pPr lvl="0" algn="r" rtl="1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</a:pPr>
            <a:endParaRPr lang="ar-DZ" sz="3200" b="1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Times New Roman" panose="02020603050405020304" pitchFamily="18" charset="0"/>
              <a:buChar char="-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3504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411" y="250521"/>
            <a:ext cx="11386159" cy="2392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1000"/>
              </a:spcAft>
              <a:buClr>
                <a:srgbClr val="FF0000"/>
              </a:buClr>
            </a:pPr>
            <a:r>
              <a:rPr lang="ar-DZ" sz="3200" b="1" u="sng" dirty="0" smtClean="0">
                <a:solidFill>
                  <a:srgbClr val="FF0000"/>
                </a:solidFill>
                <a:cs typeface="+mj-cs"/>
              </a:rPr>
              <a:t>3. </a:t>
            </a:r>
            <a:r>
              <a:rPr lang="ar-SA" sz="3200" b="1" u="sng" dirty="0" smtClean="0">
                <a:solidFill>
                  <a:srgbClr val="FF0000"/>
                </a:solidFill>
                <a:cs typeface="+mj-cs"/>
              </a:rPr>
              <a:t>أنواع </a:t>
            </a:r>
            <a:r>
              <a:rPr lang="ar-SA" sz="3200" b="1" u="sng" dirty="0">
                <a:solidFill>
                  <a:srgbClr val="FF0000"/>
                </a:solidFill>
                <a:cs typeface="+mj-cs"/>
              </a:rPr>
              <a:t>الصيغ :</a:t>
            </a:r>
            <a:endParaRPr lang="en-US" sz="2400" b="1" dirty="0">
              <a:solidFill>
                <a:srgbClr val="FF0000"/>
              </a:solidFill>
              <a:cs typeface="+mj-cs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1000"/>
              </a:spcAft>
              <a:buClr>
                <a:srgbClr val="00B050"/>
              </a:buClr>
              <a:buFont typeface="+mj-cs"/>
              <a:buAutoNum type="arabic1Minus"/>
            </a:pPr>
            <a:r>
              <a:rPr lang="ar-DZ" sz="3200" b="1" u="sng" dirty="0">
                <a:solidFill>
                  <a:srgbClr val="00B050"/>
                </a:solidFill>
                <a:cs typeface="+mj-cs"/>
              </a:rPr>
              <a:t>الصيغ المباشرة :</a:t>
            </a:r>
            <a:r>
              <a:rPr lang="ar-DZ" sz="32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200" b="1" dirty="0">
                <a:cs typeface="+mj-cs"/>
              </a:rPr>
              <a:t>تحتوي على الأعداد  مثال : 9</a:t>
            </a:r>
            <a:r>
              <a:rPr lang="fr-FR" sz="3200" b="1" dirty="0">
                <a:cs typeface="+mj-cs"/>
              </a:rPr>
              <a:t>+</a:t>
            </a:r>
            <a:r>
              <a:rPr lang="ar-DZ" sz="3200" b="1" dirty="0">
                <a:cs typeface="+mj-cs"/>
              </a:rPr>
              <a:t>4= </a:t>
            </a:r>
            <a:endParaRPr lang="en-US" sz="2400" b="1" dirty="0">
              <a:cs typeface="+mj-cs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1000"/>
              </a:spcAft>
              <a:buClr>
                <a:srgbClr val="00B050"/>
              </a:buClr>
              <a:buFont typeface="+mj-cs"/>
              <a:buAutoNum type="arabic1Minus"/>
            </a:pPr>
            <a:r>
              <a:rPr lang="ar-DZ" sz="3200" b="1" u="sng" smtClean="0">
                <a:solidFill>
                  <a:srgbClr val="00B050"/>
                </a:solidFill>
                <a:cs typeface="+mj-cs"/>
              </a:rPr>
              <a:t> الصيغ </a:t>
            </a:r>
            <a:r>
              <a:rPr lang="ar-DZ" sz="3200" b="1" u="sng" dirty="0">
                <a:solidFill>
                  <a:srgbClr val="00B050"/>
                </a:solidFill>
                <a:cs typeface="+mj-cs"/>
              </a:rPr>
              <a:t>باستعمال مراجع الخلايا : </a:t>
            </a:r>
            <a:r>
              <a:rPr lang="ar-DZ" sz="3200" b="1" dirty="0">
                <a:cs typeface="+mj-cs"/>
              </a:rPr>
              <a:t>(غير مباشرة) :  مثال :</a:t>
            </a:r>
            <a:r>
              <a:rPr lang="fr-FR" sz="3200" b="1" dirty="0">
                <a:cs typeface="+mj-cs"/>
              </a:rPr>
              <a:t>A1+B1 </a:t>
            </a:r>
            <a:r>
              <a:rPr lang="ar-DZ" sz="3200" b="1" dirty="0">
                <a:cs typeface="+mj-cs"/>
              </a:rPr>
              <a:t>= 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41888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698" y="576290"/>
            <a:ext cx="22793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التدريب</a:t>
            </a:r>
            <a:endParaRPr lang="ar-DZ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00833" y="1960941"/>
            <a:ext cx="11160690" cy="13805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lvl="0" indent="-5715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ar-DZ" sz="3600" dirty="0"/>
              <a:t>واصل كشف النقاط الذي بدأته في الحصة الماضية</a:t>
            </a:r>
            <a:r>
              <a:rPr lang="ar-DZ" sz="3600" dirty="0" smtClean="0"/>
              <a:t>.</a:t>
            </a:r>
          </a:p>
          <a:p>
            <a:pPr marL="571500" indent="-5715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ar-DZ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علما أنا 3 / ( 2</a:t>
            </a:r>
            <a:r>
              <a:rPr lang="fr-FR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* </a:t>
            </a:r>
            <a:r>
              <a:rPr lang="ar-DZ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الاختبار + 2 / (الفرض + التقويم)) = معدل المادة</a:t>
            </a:r>
            <a:r>
              <a:rPr lang="en-US" sz="3600" dirty="0"/>
              <a:t> </a:t>
            </a:r>
            <a:endParaRPr 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428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375</Words>
  <Application>Microsoft Office PowerPoint</Application>
  <PresentationFormat>Grand écran</PresentationFormat>
  <Paragraphs>57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Compte Microsoft</cp:lastModifiedBy>
  <cp:revision>54</cp:revision>
  <dcterms:created xsi:type="dcterms:W3CDTF">2024-02-06T22:26:16Z</dcterms:created>
  <dcterms:modified xsi:type="dcterms:W3CDTF">2025-01-17T17:04:36Z</dcterms:modified>
</cp:coreProperties>
</file>