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2" r:id="rId4"/>
    <p:sldId id="261" r:id="rId5"/>
    <p:sldId id="260" r:id="rId6"/>
    <p:sldId id="259" r:id="rId7"/>
    <p:sldId id="258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08/01/2025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2417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08/01/2025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7388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08/01/2025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4069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08/01/2025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8557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08/01/2025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0088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08/01/2025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4612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08/01/2025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1213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08/01/2025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2540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08/01/2025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4859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08/01/2025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9656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08/01/2025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1495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46DBA-FA3B-4C5F-B700-4671668DAB72}" type="datetimeFigureOut">
              <a:rPr lang="fr-FR" smtClean="0"/>
              <a:t>08/01/2025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086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1552928" y="494200"/>
            <a:ext cx="96720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5400" b="1" dirty="0"/>
              <a:t>ممّ تتكون واجهة المجدول ؟</a:t>
            </a:r>
            <a:endParaRPr lang="fr-FR" sz="5400" b="1" dirty="0"/>
          </a:p>
        </p:txBody>
      </p:sp>
      <p:pic>
        <p:nvPicPr>
          <p:cNvPr id="6" name="Imag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8206" y="1627406"/>
            <a:ext cx="11475075" cy="4743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77793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08714" y="374533"/>
            <a:ext cx="7439848" cy="5299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>
              <a:lnSpc>
                <a:spcPct val="115000"/>
              </a:lnSpc>
              <a:spcAft>
                <a:spcPts val="1000"/>
              </a:spcAft>
            </a:pPr>
            <a:r>
              <a:rPr lang="ar-SA" sz="4000" b="1" i="1" u="sng" dirty="0" smtClean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وضعية </a:t>
            </a:r>
            <a:r>
              <a:rPr lang="ar-SA" sz="4000" b="1" i="1" u="sng" dirty="0" err="1" smtClean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انطلاقية</a:t>
            </a:r>
            <a:r>
              <a:rPr lang="ar-SA" sz="4000" b="1" i="1" u="sng" dirty="0" smtClean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fr-FR" sz="3200" b="1" i="1" dirty="0" smtClean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ar-DZ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أين تظهر هذه العبارات في واجهة المجدول ؟</a:t>
            </a:r>
            <a:endParaRPr lang="fr-FR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 rtl="1">
              <a:lnSpc>
                <a:spcPct val="115000"/>
              </a:lnSpc>
              <a:spcAft>
                <a:spcPts val="1000"/>
              </a:spcAft>
            </a:pPr>
            <a:r>
              <a:rPr lang="fr-FR" sz="3200" b="1" dirty="0" smtClean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= 5 + 10</a:t>
            </a:r>
            <a:endParaRPr lang="fr-FR" sz="3200" dirty="0" smtClean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 rtl="1">
              <a:lnSpc>
                <a:spcPct val="115000"/>
              </a:lnSpc>
              <a:spcAft>
                <a:spcPts val="1000"/>
              </a:spcAft>
            </a:pPr>
            <a:r>
              <a:rPr lang="fr-FR" sz="3200" b="1" dirty="0" smtClean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= A1 + A5</a:t>
            </a:r>
            <a:endParaRPr lang="fr-FR" sz="3200" dirty="0" smtClean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 rtl="1">
              <a:lnSpc>
                <a:spcPct val="115000"/>
              </a:lnSpc>
              <a:spcAft>
                <a:spcPts val="1000"/>
              </a:spcAft>
            </a:pPr>
            <a:r>
              <a:rPr lang="fr-FR" sz="3200" b="1" dirty="0" smtClean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= A5 + 500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ar-DZ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برأيك، كيف تسمى هذه العبارات؟</a:t>
            </a:r>
            <a:endParaRPr lang="fr-FR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/>
            <a:r>
              <a:rPr lang="ar-DZ" sz="4000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اتصل بالإجابة الصحيحة. (</a:t>
            </a:r>
            <a:r>
              <a:rPr lang="fr-FR" sz="4000" b="1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51678</a:t>
            </a:r>
            <a:r>
              <a:rPr lang="ar-DZ" sz="4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 </a:t>
            </a:r>
            <a:endParaRPr lang="fr-FR" sz="4000" dirty="0"/>
          </a:p>
        </p:txBody>
      </p:sp>
      <p:pic>
        <p:nvPicPr>
          <p:cNvPr id="3" name="Image 2"/>
          <p:cNvPicPr/>
          <p:nvPr/>
        </p:nvPicPr>
        <p:blipFill>
          <a:blip r:embed="rId2"/>
          <a:stretch>
            <a:fillRect/>
          </a:stretch>
        </p:blipFill>
        <p:spPr>
          <a:xfrm>
            <a:off x="340928" y="903156"/>
            <a:ext cx="3947737" cy="494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068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0"/>
          <p:cNvSpPr txBox="1">
            <a:spLocks noChangeArrowheads="1"/>
          </p:cNvSpPr>
          <p:nvPr/>
        </p:nvSpPr>
        <p:spPr bwMode="auto">
          <a:xfrm>
            <a:off x="7349503" y="3659861"/>
            <a:ext cx="3507386" cy="61592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 rtl="1">
              <a:lnSpc>
                <a:spcPct val="115000"/>
              </a:lnSpc>
              <a:spcAft>
                <a:spcPts val="1000"/>
              </a:spcAft>
            </a:pPr>
            <a:r>
              <a:rPr lang="ar-DZ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عبارات</a:t>
            </a:r>
            <a:r>
              <a:rPr lang="ar-DZ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DZ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حسابية</a:t>
            </a:r>
            <a:endParaRPr lang="fr-F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95" t="3555" r="73333" b="63835"/>
          <a:stretch/>
        </p:blipFill>
        <p:spPr bwMode="auto">
          <a:xfrm>
            <a:off x="9311430" y="461427"/>
            <a:ext cx="2805726" cy="3131772"/>
          </a:xfrm>
          <a:prstGeom prst="rect">
            <a:avLst/>
          </a:prstGeom>
          <a:ln w="9525" cap="flat" cmpd="sng" algn="ctr">
            <a:solidFill>
              <a:srgbClr val="5B9BD5"/>
            </a:solidFill>
            <a:prstDash val="solid"/>
            <a:round/>
            <a:headEnd type="none" w="med" len="med"/>
            <a:tailEnd type="none" w="med" len="med"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Rectangle 4"/>
          <p:cNvSpPr/>
          <p:nvPr/>
        </p:nvSpPr>
        <p:spPr>
          <a:xfrm>
            <a:off x="7894308" y="-73436"/>
            <a:ext cx="2967479" cy="6227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ar-SA" sz="32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إليك السندات التالية :</a:t>
            </a:r>
            <a:endParaRPr lang="fr-FR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15" t="3516" r="73619" b="63997"/>
          <a:stretch/>
        </p:blipFill>
        <p:spPr bwMode="auto">
          <a:xfrm>
            <a:off x="6246260" y="461431"/>
            <a:ext cx="2963821" cy="3131772"/>
          </a:xfrm>
          <a:prstGeom prst="rect">
            <a:avLst/>
          </a:prstGeom>
          <a:ln w="9525" cap="flat" cmpd="sng" algn="ctr">
            <a:solidFill>
              <a:srgbClr val="5B9BD5"/>
            </a:solidFill>
            <a:prstDash val="solid"/>
            <a:round/>
            <a:headEnd type="none" w="med" len="med"/>
            <a:tailEnd type="none" w="med" len="med"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Image 6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43" t="3718" r="70689" b="64104"/>
          <a:stretch/>
        </p:blipFill>
        <p:spPr bwMode="auto">
          <a:xfrm>
            <a:off x="2930507" y="461427"/>
            <a:ext cx="2963916" cy="3131772"/>
          </a:xfrm>
          <a:prstGeom prst="rect">
            <a:avLst/>
          </a:prstGeom>
          <a:ln w="9525" cap="flat" cmpd="sng" algn="ctr">
            <a:solidFill>
              <a:srgbClr val="5B9BD5"/>
            </a:solidFill>
            <a:prstDash val="solid"/>
            <a:round/>
            <a:headEnd type="none" w="med" len="med"/>
            <a:tailEnd type="none" w="med" len="med"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Image 7"/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72" t="3589" r="71114" b="64126"/>
          <a:stretch/>
        </p:blipFill>
        <p:spPr bwMode="auto">
          <a:xfrm>
            <a:off x="53790" y="461429"/>
            <a:ext cx="2775367" cy="3117302"/>
          </a:xfrm>
          <a:prstGeom prst="rect">
            <a:avLst/>
          </a:prstGeom>
          <a:ln>
            <a:solidFill>
              <a:schemeClr val="accent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0" name="Connecteur droit 9"/>
          <p:cNvCxnSpPr/>
          <p:nvPr/>
        </p:nvCxnSpPr>
        <p:spPr>
          <a:xfrm>
            <a:off x="6080516" y="192565"/>
            <a:ext cx="0" cy="4018823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1482057" y="3627257"/>
            <a:ext cx="2854170" cy="70003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 rtl="1">
              <a:lnSpc>
                <a:spcPct val="115000"/>
              </a:lnSpc>
              <a:spcAft>
                <a:spcPts val="1000"/>
              </a:spcAft>
            </a:pPr>
            <a:r>
              <a:rPr lang="ar-DZ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عبارات منطقية</a:t>
            </a:r>
            <a:endParaRPr lang="fr-FR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96217" y="4342718"/>
            <a:ext cx="11642501" cy="2466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1">
              <a:lnSpc>
                <a:spcPct val="115000"/>
              </a:lnSpc>
              <a:spcAft>
                <a:spcPts val="1000"/>
              </a:spcAft>
            </a:pPr>
            <a:r>
              <a:rPr lang="ar-SA" sz="32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أكمل البيانات معتمدا على السندات و على المصطلحات كي تتحصل على</a:t>
            </a:r>
            <a:r>
              <a:rPr lang="ar-DZ" sz="32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مفهوم الصيغة </a:t>
            </a:r>
            <a:r>
              <a:rPr lang="ar-SA" sz="32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fr-FR" sz="2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 rtl="1">
              <a:lnSpc>
                <a:spcPct val="115000"/>
              </a:lnSpc>
              <a:spcAft>
                <a:spcPts val="1000"/>
              </a:spcAft>
            </a:pPr>
            <a:r>
              <a:rPr lang="ar-SA" sz="3200" b="1" dirty="0" smtClean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مراجع الخلايا ــــ   أعداد  ــــ   منطقية   ـــ   حسابية  ـــ  منطقية   ـــ   حسابية  ـــ  </a:t>
            </a:r>
            <a:endParaRPr lang="fr-FR" sz="2400" dirty="0" smtClean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/>
            <a:r>
              <a:rPr lang="ar-SA" sz="3200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الصيغة هي عبارة ............ أو ............ مكونة من ........... أو ............. تطبق </a:t>
            </a:r>
            <a:r>
              <a:rPr lang="ar-SA" sz="3200" dirty="0" err="1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عليھا</a:t>
            </a:r>
            <a:r>
              <a:rPr lang="ar-SA" sz="3200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عمليات ........... مثل (+ ، - ، *</a:t>
            </a:r>
            <a:r>
              <a:rPr lang="ar-DZ" sz="3200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، /)  </a:t>
            </a:r>
            <a:r>
              <a:rPr lang="ar-SA" sz="3200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أو ....................  مثل </a:t>
            </a:r>
            <a:r>
              <a:rPr lang="fr-FR" sz="32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) </a:t>
            </a:r>
            <a:r>
              <a:rPr lang="ar-SA" sz="3200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و، أو</a:t>
            </a:r>
            <a:r>
              <a:rPr lang="fr-FR" sz="32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2176131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evron 1"/>
          <p:cNvSpPr/>
          <p:nvPr/>
        </p:nvSpPr>
        <p:spPr>
          <a:xfrm>
            <a:off x="6915955" y="3825018"/>
            <a:ext cx="4752303" cy="2009108"/>
          </a:xfrm>
          <a:prstGeom prst="chevr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" algn="r" rtl="1">
              <a:lnSpc>
                <a:spcPct val="115000"/>
              </a:lnSpc>
              <a:spcAft>
                <a:spcPts val="1000"/>
              </a:spcAft>
            </a:pPr>
            <a:r>
              <a:rPr lang="ar-DZ" sz="3200" b="1" dirty="0">
                <a:solidFill>
                  <a:srgbClr val="7030A0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نحول لغة الكتابة إلى اللغة الفرنسية</a:t>
            </a:r>
            <a:endParaRPr lang="fr-FR" sz="2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Chevron 2"/>
          <p:cNvSpPr/>
          <p:nvPr/>
        </p:nvSpPr>
        <p:spPr>
          <a:xfrm>
            <a:off x="611747" y="3825018"/>
            <a:ext cx="5628068" cy="2193700"/>
          </a:xfrm>
          <a:prstGeom prst="chevron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" algn="r" rtl="1">
              <a:lnSpc>
                <a:spcPct val="115000"/>
              </a:lnSpc>
              <a:spcAft>
                <a:spcPts val="1000"/>
              </a:spcAft>
            </a:pPr>
            <a:r>
              <a:rPr lang="ar-SA" sz="3200" b="1" dirty="0">
                <a:solidFill>
                  <a:srgbClr val="7030A0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Arial" panose="020B0604020202020204" pitchFamily="34" charset="0"/>
              </a:rPr>
              <a:t>نحدد الخلية التي نريد أن تظهر فيها النتيجة</a:t>
            </a:r>
            <a:endParaRPr lang="fr-FR" sz="24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Chevron 3"/>
          <p:cNvSpPr/>
          <p:nvPr/>
        </p:nvSpPr>
        <p:spPr>
          <a:xfrm>
            <a:off x="6439436" y="1534558"/>
            <a:ext cx="5482671" cy="2021983"/>
          </a:xfrm>
          <a:prstGeom prst="chevron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ar-DZ" sz="3200" b="1" dirty="0">
                <a:solidFill>
                  <a:srgbClr val="7030A0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نكتب الرمز = متبوعا </a:t>
            </a:r>
            <a:r>
              <a:rPr lang="ar-DZ" sz="3200" b="1" dirty="0" smtClean="0">
                <a:solidFill>
                  <a:srgbClr val="7030A0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بالعملية </a:t>
            </a:r>
            <a:r>
              <a:rPr lang="ar-DZ" sz="3200" b="1" dirty="0" smtClean="0">
                <a:solidFill>
                  <a:srgbClr val="7030A0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3+10</a:t>
            </a:r>
            <a:endParaRPr lang="fr-FR" sz="2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Chevron 4"/>
          <p:cNvSpPr/>
          <p:nvPr/>
        </p:nvSpPr>
        <p:spPr>
          <a:xfrm>
            <a:off x="515154" y="1489483"/>
            <a:ext cx="5705341" cy="2112132"/>
          </a:xfrm>
          <a:prstGeom prst="chevron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" algn="r" rtl="1">
              <a:lnSpc>
                <a:spcPct val="115000"/>
              </a:lnSpc>
              <a:spcAft>
                <a:spcPts val="1000"/>
              </a:spcAft>
            </a:pPr>
            <a:r>
              <a:rPr lang="ar-DZ" sz="3200" b="1" dirty="0">
                <a:solidFill>
                  <a:srgbClr val="7030A0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نضغط على </a:t>
            </a:r>
            <a:r>
              <a:rPr lang="fr-FR" sz="3200" b="1" dirty="0">
                <a:solidFill>
                  <a:srgbClr val="7030A0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Entrée</a:t>
            </a:r>
            <a:r>
              <a:rPr lang="ar-DZ" sz="3200" b="1" dirty="0">
                <a:solidFill>
                  <a:srgbClr val="7030A0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فتظهر النتيجة</a:t>
            </a:r>
            <a:endParaRPr lang="fr-FR" sz="2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829578" y="441657"/>
            <a:ext cx="7117654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رتب المراحل التالية لاستنتاج مراحل كتابة الصيغة : </a:t>
            </a: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6465195" y="6020013"/>
            <a:ext cx="4854214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قم إلى الحاسوب و تأكد من المراحل</a:t>
            </a: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fr-FR" sz="4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906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Imag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389" y="3474714"/>
            <a:ext cx="1971675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 de texte 6"/>
          <p:cNvSpPr txBox="1"/>
          <p:nvPr/>
        </p:nvSpPr>
        <p:spPr>
          <a:xfrm>
            <a:off x="3830204" y="3122924"/>
            <a:ext cx="2080895" cy="45719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endParaRPr lang="fr-FR" sz="16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3786389" y="2864737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 sz="280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4335362" y="-109178"/>
            <a:ext cx="7856638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قم بكتابة هذه الصيغة في الخلية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C10  :  = 50 + 10   </a:t>
            </a:r>
            <a:endParaRPr kumimoji="0" lang="fr-F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DZ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ما هي نتيجتها ؟ مم تتكون هذه الصيغة ؟ </a:t>
            </a:r>
          </a:p>
          <a:p>
            <a:pPr marL="0" marR="0" lvl="0" indent="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DZ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حل المتاهة لتتعرف على نوع هذه الصيغة.</a:t>
            </a:r>
            <a:endParaRPr kumimoji="0" lang="fr-F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ar-DZ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ق</a:t>
            </a:r>
            <a:r>
              <a:rPr kumimoji="0" lang="ar-DZ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م الآن بكتابة العدد 100 في الخلية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A1</a:t>
            </a:r>
            <a:r>
              <a:rPr kumimoji="0" lang="ar-DZ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و العدد 20 في الخلية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B1</a:t>
            </a:r>
            <a:r>
              <a:rPr kumimoji="0" lang="ar-DZ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fr-F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DZ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قم بكتابة هذه الصيغة في الخلية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F10</a:t>
            </a:r>
            <a:r>
              <a:rPr kumimoji="0" lang="ar-DZ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: 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A1 + B1</a:t>
            </a:r>
            <a:r>
              <a:rPr kumimoji="0" lang="ar-DZ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endParaRPr kumimoji="0" lang="fr-F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DZ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ما هي نتيجتها ؟ برأيك كيف تحصلنا على هذه النتيجة ؟ </a:t>
            </a:r>
          </a:p>
          <a:p>
            <a:pPr marL="0" marR="0" lvl="0" indent="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DZ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مم تتكون هذه الصيغة ؟  </a:t>
            </a:r>
            <a:endParaRPr kumimoji="0" lang="fr-F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DZ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قم بتغيير قيمة الخلية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A1</a:t>
            </a:r>
            <a:r>
              <a:rPr kumimoji="0" lang="ar-DZ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إلى 200. ما ذا تلاحظ ؟ </a:t>
            </a:r>
            <a:endParaRPr kumimoji="0" lang="fr-F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DZ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بما أنّ الصيغة السابقة مباشرة إذن هذه الصيغة .........................</a:t>
            </a: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DZ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إذن ما هي أنواع الصيغ ؟</a:t>
            </a:r>
            <a:r>
              <a:rPr kumimoji="0" lang="fr-FR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endParaRPr kumimoji="0" lang="fr-FR" sz="36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5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1622738"/>
            <a:ext cx="4494727" cy="508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8500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539993" y="55290"/>
            <a:ext cx="3007555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838450" algn="l"/>
              </a:tabLst>
            </a:pPr>
            <a:r>
              <a:rPr kumimoji="0" lang="ar-SA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إليك الجدول التالي</a:t>
            </a:r>
            <a:r>
              <a:rPr kumimoji="0" lang="ar-DZ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</a:t>
            </a:r>
            <a:r>
              <a:rPr kumimoji="0" lang="ar-SA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838450" algn="l"/>
              </a:tabLst>
            </a:pP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7" name="Imag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31" y="669701"/>
            <a:ext cx="11771290" cy="4563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564814" y="5233187"/>
            <a:ext cx="1130950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838450" algn="l"/>
              </a:tabLst>
            </a:pPr>
            <a:r>
              <a:rPr kumimoji="0" lang="ar-DZ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قم بحساب مبلغ بعض الأجهزة بالصيغ المباشرة و البعض الآخر بالصيغ غير المباشرة</a:t>
            </a:r>
            <a:endParaRPr kumimoji="0" lang="ar-DZ" sz="4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92501" y="5941002"/>
            <a:ext cx="8231742" cy="7554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  <a:tabLst>
                <a:tab pos="2837815" algn="l"/>
              </a:tabLst>
            </a:pPr>
            <a:r>
              <a:rPr lang="ar-DZ" sz="40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في رأيك، ما نتيجة الصيغة التالية : </a:t>
            </a:r>
            <a:r>
              <a:rPr lang="fr-FR" sz="40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= 5 + 3 * 4</a:t>
            </a:r>
            <a:endParaRPr lang="fr-FR" sz="3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209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61698" y="576290"/>
            <a:ext cx="227938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التدريب</a:t>
            </a:r>
            <a:endParaRPr lang="ar-DZ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400833" y="1960941"/>
            <a:ext cx="11160690" cy="138050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571500" lvl="0" indent="-571500" algn="r" rt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ar-DZ" sz="3600" dirty="0"/>
              <a:t>واصل كشف النقاط الذي بدأته في الحصة الماضية</a:t>
            </a:r>
            <a:r>
              <a:rPr lang="ar-DZ" sz="3600" dirty="0" smtClean="0"/>
              <a:t>.</a:t>
            </a:r>
          </a:p>
          <a:p>
            <a:pPr marL="571500" indent="-571500" algn="r" rt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ar-DZ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علما أنا 3 / ( 2</a:t>
            </a:r>
            <a:r>
              <a:rPr lang="fr-FR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* </a:t>
            </a:r>
            <a:r>
              <a:rPr lang="ar-DZ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الاختبار + 2 / (الفرض + التقويم)) = معدل المادة</a:t>
            </a:r>
            <a:r>
              <a:rPr lang="en-US" sz="3600" dirty="0"/>
              <a:t> </a:t>
            </a:r>
            <a:endParaRPr lang="en-US" sz="3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428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307</Words>
  <Application>Microsoft Office PowerPoint</Application>
  <PresentationFormat>Grand écran</PresentationFormat>
  <Paragraphs>37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Georgia</vt:lpstr>
      <vt:lpstr>Times New Roman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Compte Microsoft</cp:lastModifiedBy>
  <cp:revision>18</cp:revision>
  <dcterms:created xsi:type="dcterms:W3CDTF">2024-02-06T22:26:16Z</dcterms:created>
  <dcterms:modified xsi:type="dcterms:W3CDTF">2025-01-08T10:07:35Z</dcterms:modified>
</cp:coreProperties>
</file>