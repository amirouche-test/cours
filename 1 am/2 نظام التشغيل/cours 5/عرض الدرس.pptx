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32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05D9-AF43-423E-A535-1456FBFB6486}" type="datetimeFigureOut">
              <a:rPr lang="fr-FR" smtClean="0"/>
              <a:pPr/>
              <a:t>12/01/2025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4844-727D-467B-8934-26551CF16DC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05D9-AF43-423E-A535-1456FBFB6486}" type="datetimeFigureOut">
              <a:rPr lang="fr-FR" smtClean="0"/>
              <a:pPr/>
              <a:t>12/01/2025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4844-727D-467B-8934-26551CF16DC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05D9-AF43-423E-A535-1456FBFB6486}" type="datetimeFigureOut">
              <a:rPr lang="fr-FR" smtClean="0"/>
              <a:pPr/>
              <a:t>12/01/2025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4844-727D-467B-8934-26551CF16DC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05D9-AF43-423E-A535-1456FBFB6486}" type="datetimeFigureOut">
              <a:rPr lang="fr-FR" smtClean="0"/>
              <a:pPr/>
              <a:t>12/01/2025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4844-727D-467B-8934-26551CF16DC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05D9-AF43-423E-A535-1456FBFB6486}" type="datetimeFigureOut">
              <a:rPr lang="fr-FR" smtClean="0"/>
              <a:pPr/>
              <a:t>12/01/2025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4844-727D-467B-8934-26551CF16DC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05D9-AF43-423E-A535-1456FBFB6486}" type="datetimeFigureOut">
              <a:rPr lang="fr-FR" smtClean="0"/>
              <a:pPr/>
              <a:t>12/01/2025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4844-727D-467B-8934-26551CF16DC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05D9-AF43-423E-A535-1456FBFB6486}" type="datetimeFigureOut">
              <a:rPr lang="fr-FR" smtClean="0"/>
              <a:pPr/>
              <a:t>12/01/2025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4844-727D-467B-8934-26551CF16DC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05D9-AF43-423E-A535-1456FBFB6486}" type="datetimeFigureOut">
              <a:rPr lang="fr-FR" smtClean="0"/>
              <a:pPr/>
              <a:t>12/01/2025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4844-727D-467B-8934-26551CF16DC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05D9-AF43-423E-A535-1456FBFB6486}" type="datetimeFigureOut">
              <a:rPr lang="fr-FR" smtClean="0"/>
              <a:pPr/>
              <a:t>12/01/2025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4844-727D-467B-8934-26551CF16DC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05D9-AF43-423E-A535-1456FBFB6486}" type="datetimeFigureOut">
              <a:rPr lang="fr-FR" smtClean="0"/>
              <a:pPr/>
              <a:t>12/01/2025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4844-727D-467B-8934-26551CF16DC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C05D9-AF43-423E-A535-1456FBFB6486}" type="datetimeFigureOut">
              <a:rPr lang="fr-FR" smtClean="0"/>
              <a:pPr/>
              <a:t>12/01/2025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4844-727D-467B-8934-26551CF16DC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C05D9-AF43-423E-A535-1456FBFB6486}" type="datetimeFigureOut">
              <a:rPr lang="fr-FR" smtClean="0"/>
              <a:pPr/>
              <a:t>12/01/2025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B4844-727D-467B-8934-26551CF16DC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63833" y="1268760"/>
            <a:ext cx="7772400" cy="864096"/>
          </a:xfrm>
        </p:spPr>
        <p:txBody>
          <a:bodyPr>
            <a:normAutofit/>
          </a:bodyPr>
          <a:lstStyle/>
          <a:p>
            <a:pPr marL="742950" indent="-742950" algn="r" rtl="1">
              <a:buFont typeface="Wingdings" panose="05000000000000000000" pitchFamily="2" charset="2"/>
              <a:buChar char="Ø"/>
            </a:pPr>
            <a:r>
              <a:rPr lang="ar-SA" dirty="0" smtClean="0"/>
              <a:t>ما </a:t>
            </a:r>
            <a:r>
              <a:rPr lang="ar-SA" dirty="0"/>
              <a:t>هو نظام تشغيل الحواسيب </a:t>
            </a:r>
            <a:r>
              <a:rPr lang="ar-SA" dirty="0" smtClean="0"/>
              <a:t>؟</a:t>
            </a:r>
            <a:endParaRPr lang="fr-FR" b="1" dirty="0"/>
          </a:p>
        </p:txBody>
      </p:sp>
      <p:sp>
        <p:nvSpPr>
          <p:cNvPr id="9" name="Titre 1"/>
          <p:cNvSpPr txBox="1">
            <a:spLocks/>
          </p:cNvSpPr>
          <p:nvPr/>
        </p:nvSpPr>
        <p:spPr>
          <a:xfrm>
            <a:off x="563833" y="2857672"/>
            <a:ext cx="7772400" cy="715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r" rtl="1">
              <a:buFont typeface="Wingdings" panose="05000000000000000000" pitchFamily="2" charset="2"/>
              <a:buChar char="Ø"/>
            </a:pPr>
            <a:r>
              <a:rPr lang="ar-DZ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أذكر أمثلة عن أنظمة التشغيل</a:t>
            </a:r>
            <a:r>
              <a:rPr lang="fr-FR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dirty="0" smtClean="0"/>
              <a:t> 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95536" y="142853"/>
            <a:ext cx="8172400" cy="837876"/>
          </a:xfrm>
        </p:spPr>
        <p:txBody>
          <a:bodyPr>
            <a:normAutofit fontScale="90000"/>
          </a:bodyPr>
          <a:lstStyle/>
          <a:p>
            <a:pPr rtl="1"/>
            <a:r>
              <a:rPr lang="ar-SA" b="1" u="sng" dirty="0" smtClean="0">
                <a:solidFill>
                  <a:srgbClr val="FF0000"/>
                </a:solidFill>
              </a:rPr>
              <a:t> </a:t>
            </a:r>
            <a:r>
              <a:rPr lang="fr-FR" dirty="0"/>
              <a:t/>
            </a:r>
            <a:br>
              <a:rPr lang="fr-FR" dirty="0"/>
            </a:br>
            <a:r>
              <a:rPr lang="ar-SA" b="1" dirty="0"/>
              <a:t>بعد تشغيل الحاسوب تظهر هذه </a:t>
            </a:r>
            <a:r>
              <a:rPr lang="ar-SA" b="1" dirty="0" smtClean="0"/>
              <a:t>الصورة</a:t>
            </a:r>
            <a:r>
              <a:rPr lang="ar-DZ" b="1" dirty="0" smtClean="0"/>
              <a:t> </a:t>
            </a:r>
            <a:r>
              <a:rPr lang="ar-SA" b="1" dirty="0" smtClean="0"/>
              <a:t> </a:t>
            </a:r>
            <a:r>
              <a:rPr lang="fr-FR" b="1" dirty="0"/>
              <a:t/>
            </a:r>
            <a:br>
              <a:rPr lang="fr-FR" b="1" dirty="0"/>
            </a:br>
            <a:endParaRPr lang="fr-FR" b="1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395536" y="5530382"/>
            <a:ext cx="8172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نسمي هذه الصورة بالواجهة</a:t>
            </a:r>
            <a:endParaRPr kumimoji="0" lang="en-US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ممّا تتكون هذه الواجهة ؟</a:t>
            </a:r>
            <a:r>
              <a: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79" y="908720"/>
            <a:ext cx="8172400" cy="459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310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95536" y="260648"/>
            <a:ext cx="828092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DZ" sz="2800" b="1" dirty="0" smtClean="0">
                <a:solidFill>
                  <a:srgbClr val="FF0000"/>
                </a:solidFill>
                <a:cs typeface="+mj-cs"/>
              </a:rPr>
              <a:t>النشاط 01</a:t>
            </a:r>
            <a:endParaRPr lang="ar-DZ" sz="2800" b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986338"/>
              </p:ext>
            </p:extLst>
          </p:nvPr>
        </p:nvGraphicFramePr>
        <p:xfrm>
          <a:off x="899592" y="1556792"/>
          <a:ext cx="7488832" cy="4824536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7488832"/>
              </a:tblGrid>
              <a:tr h="1593140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SzPts val="1400"/>
                        <a:buFont typeface="Symbol" panose="05050102010706020507" pitchFamily="18" charset="2"/>
                        <a:buChar char=""/>
                      </a:pPr>
                      <a:r>
                        <a:rPr lang="ar-DZ" sz="2400" u="sng" strike="noStrike" dirty="0">
                          <a:solidFill>
                            <a:srgbClr val="00B050"/>
                          </a:solidFill>
                          <a:effectLst/>
                        </a:rPr>
                        <a:t>سطح المكتب </a:t>
                      </a:r>
                      <a:r>
                        <a:rPr lang="fr-FR" sz="2400" u="sng" strike="noStrike" dirty="0">
                          <a:solidFill>
                            <a:srgbClr val="00B050"/>
                          </a:solidFill>
                          <a:effectLst/>
                        </a:rPr>
                        <a:t>Bureau</a:t>
                      </a:r>
                      <a:r>
                        <a:rPr lang="ar-DZ" sz="2400" u="sng" strike="noStrike" dirty="0"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r>
                        <a:rPr lang="fr-FR" sz="2400" u="sng" strike="noStrike" dirty="0">
                          <a:solidFill>
                            <a:srgbClr val="00B050"/>
                          </a:solidFill>
                          <a:effectLst/>
                        </a:rPr>
                        <a:t>:</a:t>
                      </a:r>
                      <a:endParaRPr lang="en-US" sz="1800" u="none" strike="noStrike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SzPts val="1400"/>
                        <a:buFont typeface="Symbol" panose="05050102010706020507" pitchFamily="18" charset="2"/>
                        <a:buChar char=""/>
                      </a:pPr>
                      <a:r>
                        <a:rPr lang="ar-DZ" sz="2400" u="sng" strike="noStrike" dirty="0">
                          <a:solidFill>
                            <a:srgbClr val="00B050"/>
                          </a:solidFill>
                          <a:effectLst/>
                        </a:rPr>
                        <a:t>الأيقونات </a:t>
                      </a:r>
                      <a:r>
                        <a:rPr lang="fr-FR" sz="2400" u="sng" strike="noStrike" dirty="0">
                          <a:solidFill>
                            <a:srgbClr val="00B050"/>
                          </a:solidFill>
                          <a:effectLst/>
                        </a:rPr>
                        <a:t> Icônes</a:t>
                      </a:r>
                      <a:r>
                        <a:rPr lang="ar-DZ" sz="2400" u="sng" strike="noStrike" dirty="0">
                          <a:solidFill>
                            <a:srgbClr val="00B050"/>
                          </a:solidFill>
                          <a:effectLst/>
                        </a:rPr>
                        <a:t>:</a:t>
                      </a:r>
                      <a:endParaRPr lang="en-US" sz="1800" u="none" strike="noStrike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SzPts val="1400"/>
                        <a:buFont typeface="Symbol" panose="05050102010706020507" pitchFamily="18" charset="2"/>
                        <a:buChar char=""/>
                      </a:pPr>
                      <a:r>
                        <a:rPr lang="ar-DZ" sz="2400" u="sng" strike="noStrike" dirty="0">
                          <a:solidFill>
                            <a:srgbClr val="00B050"/>
                          </a:solidFill>
                          <a:effectLst/>
                        </a:rPr>
                        <a:t>شريط المهام </a:t>
                      </a:r>
                      <a:r>
                        <a:rPr lang="fr-FR" sz="2400" u="sng" strike="noStrike" dirty="0">
                          <a:solidFill>
                            <a:srgbClr val="00B050"/>
                          </a:solidFill>
                          <a:effectLst/>
                        </a:rPr>
                        <a:t>Barre des taches</a:t>
                      </a:r>
                      <a:r>
                        <a:rPr lang="ar-DZ" sz="2400" u="sng" strike="noStrike" dirty="0">
                          <a:solidFill>
                            <a:srgbClr val="00B050"/>
                          </a:solidFill>
                          <a:effectLst/>
                        </a:rPr>
                        <a:t> :</a:t>
                      </a:r>
                      <a:endParaRPr lang="en-US" sz="1800" u="none" strike="noStrike" dirty="0">
                        <a:solidFill>
                          <a:srgbClr val="00B050"/>
                        </a:solidFill>
                        <a:effectLst/>
                      </a:endParaRPr>
                    </a:p>
                    <a:p>
                      <a:pPr marL="45720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DZ" sz="1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</a:tr>
              <a:tr h="3231396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SzPts val="1400"/>
                        <a:buFont typeface="Symbol" panose="05050102010706020507" pitchFamily="18" charset="2"/>
                        <a:buChar char=""/>
                      </a:pPr>
                      <a:r>
                        <a:rPr lang="ar-SA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هي رموز صغيرة تمثل البرامج، الملفات، المجلدات أو الأدوات في نظام التشغيل، وتظهر على شاشة الحاسوب (على سطح المكتب أو في شريط المهام أو داخل النوافذ) لتسهيل التفاعل مع النظام</a:t>
                      </a:r>
                      <a:r>
                        <a:rPr lang="fr-FR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US" sz="180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SzPts val="1400"/>
                        <a:buFont typeface="Symbol" panose="05050102010706020507" pitchFamily="18" charset="2"/>
                        <a:buChar char=""/>
                      </a:pPr>
                      <a:r>
                        <a:rPr lang="ar-SA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هو الشاشة الرئيسية التي تظهر عند تشغيل الكمبيوتر، ويحتوي على أيقونات تمثل البرامج والملفات والمجلدات، كما يمكن تغيير خلفيته حسب الرغبة</a:t>
                      </a:r>
                      <a:r>
                        <a:rPr lang="fr-FR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US" sz="180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SzPts val="1400"/>
                        <a:buFont typeface="Symbol" panose="05050102010706020507" pitchFamily="18" charset="2"/>
                        <a:buChar char=""/>
                      </a:pPr>
                      <a:r>
                        <a:rPr lang="ar-DZ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يمتد أفقيا أسفل الشاشة، يحتوى على الزر ابدأ </a:t>
                      </a:r>
                      <a:r>
                        <a:rPr lang="fr-FR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Démarrer</a:t>
                      </a:r>
                      <a:r>
                        <a:rPr lang="ar-DZ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، الساعة، التاريخ، أداة ضبط اللغة و البرامج المفتوحة.</a:t>
                      </a:r>
                      <a:endParaRPr lang="en-US" sz="180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229600" cy="1143000"/>
          </a:xfrm>
        </p:spPr>
        <p:txBody>
          <a:bodyPr>
            <a:normAutofit/>
          </a:bodyPr>
          <a:lstStyle/>
          <a:p>
            <a:r>
              <a:rPr lang="ar-DZ" b="1" u="sng" dirty="0" smtClean="0">
                <a:solidFill>
                  <a:srgbClr val="FF0000"/>
                </a:solidFill>
              </a:rPr>
              <a:t>تدريب :</a:t>
            </a:r>
            <a:endParaRPr lang="fr-FR" b="1" dirty="0"/>
          </a:p>
        </p:txBody>
      </p:sp>
      <p:sp>
        <p:nvSpPr>
          <p:cNvPr id="3" name="Titre 1"/>
          <p:cNvSpPr txBox="1">
            <a:spLocks/>
          </p:cNvSpPr>
          <p:nvPr/>
        </p:nvSpPr>
        <p:spPr>
          <a:xfrm>
            <a:off x="323528" y="1628800"/>
            <a:ext cx="8229600" cy="35283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r" rtl="1">
              <a:buFontTx/>
              <a:buChar char="-"/>
            </a:pPr>
            <a:r>
              <a:rPr lang="ar-DZ" b="1" dirty="0" smtClean="0"/>
              <a:t>برأيك كيف يمكن فتح الأيقونة </a:t>
            </a:r>
            <a:r>
              <a:rPr lang="fr-FR" b="1" dirty="0" smtClean="0"/>
              <a:t>Corbeille</a:t>
            </a:r>
            <a:r>
              <a:rPr lang="ar-DZ" b="1" dirty="0" smtClean="0"/>
              <a:t> ؟</a:t>
            </a:r>
          </a:p>
          <a:p>
            <a:pPr algn="r" rtl="1"/>
            <a:endParaRPr lang="ar-DZ" b="1" dirty="0" smtClean="0"/>
          </a:p>
          <a:p>
            <a:pPr marL="571500" indent="-571500" algn="r" rtl="1">
              <a:buFontTx/>
              <a:buChar char="-"/>
            </a:pPr>
            <a:r>
              <a:rPr lang="ar-DZ" b="1" dirty="0" smtClean="0"/>
              <a:t>كيف </a:t>
            </a:r>
            <a:r>
              <a:rPr lang="ar-DZ" b="1" dirty="0"/>
              <a:t>يمكن تغيير مكانها على سطح </a:t>
            </a:r>
            <a:r>
              <a:rPr lang="ar-DZ" b="1" dirty="0" smtClean="0"/>
              <a:t>المكتب ؟</a:t>
            </a:r>
          </a:p>
          <a:p>
            <a:pPr algn="r" rtl="1"/>
            <a:endParaRPr lang="ar-DZ" b="1" dirty="0" smtClean="0"/>
          </a:p>
          <a:p>
            <a:pPr marL="571500" indent="-571500" algn="r" rtl="1">
              <a:buFontTx/>
              <a:buChar char="-"/>
            </a:pPr>
            <a:r>
              <a:rPr lang="ar-DZ" b="1" dirty="0" smtClean="0"/>
              <a:t>قم </a:t>
            </a:r>
            <a:r>
              <a:rPr lang="ar-DZ" b="1" dirty="0"/>
              <a:t>بالضغط بالزر الأيمن للفأرة عليها </a:t>
            </a:r>
            <a:r>
              <a:rPr lang="ar-DZ" b="1" dirty="0" smtClean="0"/>
              <a:t>لاكتشاف </a:t>
            </a:r>
            <a:r>
              <a:rPr lang="ar-DZ" b="1" dirty="0"/>
              <a:t>مختلف العمليات الأخرى الممكن إجراؤها على </a:t>
            </a:r>
            <a:r>
              <a:rPr lang="ar-DZ" b="1" dirty="0" smtClean="0"/>
              <a:t>الأيقونة.</a:t>
            </a:r>
            <a:endParaRPr lang="fr-FR" b="1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141</Words>
  <Application>Microsoft Office PowerPoint</Application>
  <PresentationFormat>Affichage à l'écran (4:3)</PresentationFormat>
  <Paragraphs>19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Arial</vt:lpstr>
      <vt:lpstr>Calibri</vt:lpstr>
      <vt:lpstr>Symbol</vt:lpstr>
      <vt:lpstr>Times New Roman</vt:lpstr>
      <vt:lpstr>Wingdings</vt:lpstr>
      <vt:lpstr>Thème Office</vt:lpstr>
      <vt:lpstr>ما هو نظام تشغيل الحواسيب ؟</vt:lpstr>
      <vt:lpstr>  بعد تشغيل الحاسوب تظهر هذه الصورة   </vt:lpstr>
      <vt:lpstr>Présentation PowerPoint</vt:lpstr>
      <vt:lpstr>تدريب 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نشاط :  بعد تشغيل الحاسوب تظهر هذه الصورة،</dc:title>
  <dc:creator>user</dc:creator>
  <cp:lastModifiedBy>Compte Microsoft</cp:lastModifiedBy>
  <cp:revision>8</cp:revision>
  <dcterms:created xsi:type="dcterms:W3CDTF">2023-09-22T08:41:21Z</dcterms:created>
  <dcterms:modified xsi:type="dcterms:W3CDTF">2025-01-12T09:43:08Z</dcterms:modified>
</cp:coreProperties>
</file>