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2" r:id="rId4"/>
    <p:sldId id="265" r:id="rId5"/>
    <p:sldId id="261" r:id="rId6"/>
    <p:sldId id="266" r:id="rId7"/>
    <p:sldId id="259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FFCC"/>
    <a:srgbClr val="65F1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9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241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388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406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557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008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461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1213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2540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4859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656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1495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E46DBA-FA3B-4C5F-B700-4671668DAB72}" type="datetimeFigureOut">
              <a:rPr lang="fr-FR" smtClean="0"/>
              <a:t>20/01/2025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864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467544" y="620688"/>
            <a:ext cx="11269344" cy="207588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lnSpc>
                <a:spcPct val="107000"/>
              </a:lnSpc>
              <a:spcAft>
                <a:spcPts val="800"/>
              </a:spcAft>
            </a:pPr>
            <a:r>
              <a:rPr lang="ar-SA" sz="3600" b="1" u="sng" dirty="0">
                <a:solidFill>
                  <a:srgbClr val="00B0F0"/>
                </a:solidFill>
              </a:rPr>
              <a:t>تغذية راجعة </a:t>
            </a:r>
            <a:r>
              <a:rPr lang="ar-SA" sz="3600" b="1" u="sng" dirty="0" smtClean="0">
                <a:solidFill>
                  <a:srgbClr val="00B0F0"/>
                </a:solidFill>
              </a:rPr>
              <a:t>:</a:t>
            </a:r>
            <a:endParaRPr lang="ar-DZ" sz="3600" b="1" u="sng" dirty="0" smtClean="0">
              <a:solidFill>
                <a:srgbClr val="00B0F0"/>
              </a:solidFill>
            </a:endParaRPr>
          </a:p>
          <a:p>
            <a:pPr algn="r" rtl="1">
              <a:lnSpc>
                <a:spcPct val="107000"/>
              </a:lnSpc>
              <a:spcAft>
                <a:spcPts val="800"/>
              </a:spcAft>
            </a:pPr>
            <a:endParaRPr lang="fr-FR" sz="3600" b="1" u="sng" dirty="0" smtClean="0">
              <a:solidFill>
                <a:srgbClr val="00B0F0"/>
              </a:solidFill>
            </a:endParaRPr>
          </a:p>
          <a:p>
            <a:pPr marL="571500" lvl="0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ar-SA" sz="3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ما هي مختلف عناصر الواجهة التي رأيناها سابقا </a:t>
            </a:r>
            <a:r>
              <a:rPr lang="ar-SA" sz="36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؟</a:t>
            </a:r>
            <a:endParaRPr lang="ar-DZ" sz="3600" dirty="0" smtClean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467544" y="2981194"/>
            <a:ext cx="11269344" cy="6451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1028700" lvl="1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ar-DZ" sz="3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سطح </a:t>
            </a:r>
            <a:r>
              <a:rPr lang="ar-DZ" sz="36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المكتب</a:t>
            </a:r>
            <a:r>
              <a:rPr lang="en-US" sz="1600" dirty="0" smtClean="0">
                <a:solidFill>
                  <a:srgbClr val="FF0000"/>
                </a:solidFill>
              </a:rPr>
              <a:t> </a:t>
            </a:r>
            <a:endParaRPr lang="en-US" sz="280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ZoneTexte 2"/>
          <p:cNvSpPr txBox="1"/>
          <p:nvPr/>
        </p:nvSpPr>
        <p:spPr>
          <a:xfrm>
            <a:off x="7490564" y="3626307"/>
            <a:ext cx="4246324" cy="6451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1028700" lvl="1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ar-DZ" sz="36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الأيقونات</a:t>
            </a:r>
            <a:endParaRPr lang="ar-DZ" sz="3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3895595" y="4270202"/>
            <a:ext cx="7841293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1028700" lvl="2" indent="-571500" algn="r" rtl="1">
              <a:buFont typeface="Wingdings" panose="05000000000000000000" pitchFamily="2" charset="2"/>
              <a:buChar char="ü"/>
            </a:pPr>
            <a:r>
              <a:rPr lang="ar-DZ" sz="3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شريط </a:t>
            </a:r>
            <a:r>
              <a:rPr lang="ar-DZ" sz="36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المهام</a:t>
            </a:r>
            <a:endParaRPr lang="ar-DZ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779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oneTexte 8"/>
          <p:cNvSpPr txBox="1"/>
          <p:nvPr/>
        </p:nvSpPr>
        <p:spPr>
          <a:xfrm>
            <a:off x="400831" y="307796"/>
            <a:ext cx="11398685" cy="76944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ar-DZ" sz="4400" b="1" u="sng" dirty="0" smtClean="0">
                <a:solidFill>
                  <a:srgbClr val="00B050"/>
                </a:solidFill>
              </a:rPr>
              <a:t>الوضعية</a:t>
            </a:r>
            <a:r>
              <a:rPr lang="ar-DZ" sz="4400" u="sng" dirty="0" smtClean="0">
                <a:solidFill>
                  <a:srgbClr val="00B050"/>
                </a:solidFill>
              </a:rPr>
              <a:t> </a:t>
            </a:r>
            <a:r>
              <a:rPr lang="ar-DZ" sz="4400" b="1" u="sng" dirty="0" err="1" smtClean="0">
                <a:solidFill>
                  <a:srgbClr val="00B050"/>
                </a:solidFill>
              </a:rPr>
              <a:t>الإنطلاقية</a:t>
            </a:r>
            <a:endParaRPr lang="ar-DZ" sz="4400" b="1" u="sng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400831" y="2057633"/>
            <a:ext cx="11285952" cy="230832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642938" indent="-642938" algn="r" rtl="1">
              <a:buFont typeface="Wingdings" panose="05000000000000000000" pitchFamily="2" charset="2"/>
              <a:buChar char="Ø"/>
            </a:pPr>
            <a:r>
              <a:rPr lang="ar-DZ" sz="3600" dirty="0"/>
              <a:t>رأينا في الحصة الماضية العناصر الثلاثة لواجهة الـ </a:t>
            </a:r>
            <a:r>
              <a:rPr lang="fr-FR" sz="3600" dirty="0"/>
              <a:t>Windows</a:t>
            </a:r>
            <a:r>
              <a:rPr lang="ar-DZ" sz="3600" dirty="0"/>
              <a:t> التي تظهر على </a:t>
            </a:r>
            <a:r>
              <a:rPr lang="ar-DZ" sz="3600" dirty="0" smtClean="0"/>
              <a:t>الشاشة.</a:t>
            </a:r>
          </a:p>
          <a:p>
            <a:pPr marL="642938" indent="-642938" algn="r" rtl="1">
              <a:buFont typeface="Wingdings" panose="05000000000000000000" pitchFamily="2" charset="2"/>
              <a:buChar char="Ø"/>
            </a:pPr>
            <a:endParaRPr lang="ar-DZ" sz="3600" dirty="0" smtClean="0"/>
          </a:p>
          <a:p>
            <a:pPr marL="642938" indent="-642938" algn="r" rtl="1">
              <a:buFont typeface="Wingdings" panose="05000000000000000000" pitchFamily="2" charset="2"/>
              <a:buChar char="Ø"/>
            </a:pPr>
            <a:r>
              <a:rPr lang="ar-DZ" sz="3600" dirty="0" smtClean="0"/>
              <a:t>يا </a:t>
            </a:r>
            <a:r>
              <a:rPr lang="ar-DZ" sz="3600" dirty="0"/>
              <a:t>ترى هل هناك عناصر أخرى مخفية ؟</a:t>
            </a:r>
            <a:endParaRPr lang="ar-DZ" sz="3300" dirty="0"/>
          </a:p>
        </p:txBody>
      </p:sp>
    </p:spTree>
    <p:extLst>
      <p:ext uri="{BB962C8B-B14F-4D97-AF65-F5344CB8AC3E}">
        <p14:creationId xmlns:p14="http://schemas.microsoft.com/office/powerpoint/2010/main" val="23460686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375781" y="191481"/>
            <a:ext cx="11511419" cy="6227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u="sng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نشاط 01 :</a:t>
            </a:r>
            <a:endParaRPr lang="fr-FR" sz="3200" dirty="0"/>
          </a:p>
        </p:txBody>
      </p:sp>
      <p:sp>
        <p:nvSpPr>
          <p:cNvPr id="19" name="ZoneTexte 18"/>
          <p:cNvSpPr txBox="1"/>
          <p:nvPr/>
        </p:nvSpPr>
        <p:spPr>
          <a:xfrm>
            <a:off x="538619" y="1327760"/>
            <a:ext cx="11348581" cy="452431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قم </a:t>
            </a:r>
            <a:r>
              <a:rPr lang="ar-DZ" sz="3200" dirty="0"/>
              <a:t>بفتح </a:t>
            </a:r>
            <a:r>
              <a:rPr lang="ar-DZ" sz="3200" dirty="0" smtClean="0"/>
              <a:t>أيقونة </a:t>
            </a:r>
            <a:r>
              <a:rPr lang="fr-FR" sz="3200" dirty="0" smtClean="0"/>
              <a:t>Ce PC</a:t>
            </a:r>
            <a:r>
              <a:rPr lang="ar-DZ" sz="3200" dirty="0" smtClean="0"/>
              <a:t> و تمعن فيها جيّدا.</a:t>
            </a:r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اضغط </a:t>
            </a:r>
            <a:r>
              <a:rPr lang="ar-DZ" sz="3200" dirty="0"/>
              <a:t>على زر التكبير أكثر من </a:t>
            </a:r>
            <a:r>
              <a:rPr lang="ar-DZ" sz="3200" dirty="0" smtClean="0"/>
              <a:t>مرّة.</a:t>
            </a:r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 اضغط </a:t>
            </a:r>
            <a:r>
              <a:rPr lang="ar-DZ" sz="3200" dirty="0"/>
              <a:t>على زر التقليص و </a:t>
            </a:r>
            <a:r>
              <a:rPr lang="ar-DZ" sz="3200" dirty="0" smtClean="0"/>
              <a:t>لاحظ </a:t>
            </a:r>
            <a:r>
              <a:rPr lang="ar-DZ" sz="3200" dirty="0"/>
              <a:t>ما </a:t>
            </a:r>
            <a:r>
              <a:rPr lang="ar-DZ" sz="3200" dirty="0" smtClean="0"/>
              <a:t>يحدث</a:t>
            </a:r>
            <a:r>
              <a:rPr lang="ar-DZ" sz="3200" dirty="0"/>
              <a:t>.</a:t>
            </a:r>
            <a:endParaRPr lang="ar-DZ" sz="3200" dirty="0" smtClean="0"/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اعد </a:t>
            </a:r>
            <a:r>
              <a:rPr lang="ar-DZ" sz="3200" dirty="0"/>
              <a:t>إظهار النافذة عبر شريط </a:t>
            </a:r>
            <a:r>
              <a:rPr lang="ar-DZ" sz="3200" dirty="0" smtClean="0"/>
              <a:t>المهام.</a:t>
            </a:r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 </a:t>
            </a:r>
            <a:r>
              <a:rPr lang="ar-DZ" sz="3200" dirty="0"/>
              <a:t>ا</a:t>
            </a:r>
            <a:r>
              <a:rPr lang="ar-DZ" sz="3200" dirty="0" smtClean="0"/>
              <a:t>ضغط </a:t>
            </a:r>
            <a:r>
              <a:rPr lang="ar-DZ" sz="3200" dirty="0"/>
              <a:t>على زر </a:t>
            </a:r>
            <a:r>
              <a:rPr lang="ar-DZ" sz="3200" dirty="0" smtClean="0"/>
              <a:t>الغلق.</a:t>
            </a:r>
          </a:p>
          <a:p>
            <a:pPr algn="r" rtl="1"/>
            <a:endParaRPr lang="ar-DZ" sz="3200" dirty="0" smtClean="0"/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 قم بفتح برنامج </a:t>
            </a:r>
            <a:r>
              <a:rPr lang="fr-FR" sz="3200" dirty="0" err="1" smtClean="0"/>
              <a:t>Paint</a:t>
            </a:r>
            <a:r>
              <a:rPr lang="fr-FR" sz="3200" dirty="0" smtClean="0"/>
              <a:t> </a:t>
            </a:r>
            <a:r>
              <a:rPr lang="ar-DZ" sz="3200" dirty="0" smtClean="0"/>
              <a:t> و إنشا رسم بسيط لأحد مكونات الحاسوب.</a:t>
            </a:r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اضغط على زر الغلق.</a:t>
            </a:r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 تمعّن جيّدا في الإطار الذي خرج.</a:t>
            </a:r>
          </a:p>
        </p:txBody>
      </p:sp>
    </p:spTree>
    <p:extLst>
      <p:ext uri="{BB962C8B-B14F-4D97-AF65-F5344CB8AC3E}">
        <p14:creationId xmlns:p14="http://schemas.microsoft.com/office/powerpoint/2010/main" val="22176131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375781" y="78747"/>
            <a:ext cx="11511419" cy="6227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u="sng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نشاط 02 :</a:t>
            </a:r>
            <a:endParaRPr lang="fr-FR" sz="3200" dirty="0"/>
          </a:p>
        </p:txBody>
      </p:sp>
      <p:pic>
        <p:nvPicPr>
          <p:cNvPr id="3" name="Image 2"/>
          <p:cNvPicPr/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72628" y="78747"/>
            <a:ext cx="8602490" cy="3691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Image 3"/>
          <p:cNvPicPr/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493513" y="3970750"/>
            <a:ext cx="5960721" cy="26803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6" name="Connecteur droit avec flèche 5"/>
          <p:cNvCxnSpPr/>
          <p:nvPr/>
        </p:nvCxnSpPr>
        <p:spPr>
          <a:xfrm flipH="1">
            <a:off x="4196219" y="1691014"/>
            <a:ext cx="3695178" cy="24676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Connecteur droit avec flèche 7"/>
          <p:cNvCxnSpPr/>
          <p:nvPr/>
        </p:nvCxnSpPr>
        <p:spPr>
          <a:xfrm>
            <a:off x="6131490" y="1691014"/>
            <a:ext cx="1008346" cy="22797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Connecteur droit avec flèche 9"/>
          <p:cNvCxnSpPr/>
          <p:nvPr/>
        </p:nvCxnSpPr>
        <p:spPr>
          <a:xfrm>
            <a:off x="3795386" y="1578279"/>
            <a:ext cx="187891" cy="38580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Connecteur droit avec flèche 11"/>
          <p:cNvCxnSpPr/>
          <p:nvPr/>
        </p:nvCxnSpPr>
        <p:spPr>
          <a:xfrm flipH="1">
            <a:off x="6801633" y="3394553"/>
            <a:ext cx="1202499" cy="20417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Connecteur droit avec flèche 17"/>
          <p:cNvCxnSpPr/>
          <p:nvPr/>
        </p:nvCxnSpPr>
        <p:spPr>
          <a:xfrm>
            <a:off x="4196219" y="3256767"/>
            <a:ext cx="1077239" cy="9018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31078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0000"/>
                <a:lumOff val="6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829578" y="68787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65760" y="946685"/>
            <a:ext cx="11425711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3600" b="1" dirty="0" smtClean="0"/>
              <a:t>إطار </a:t>
            </a:r>
            <a:r>
              <a:rPr lang="ar-DZ" sz="3600" b="1" dirty="0"/>
              <a:t>يظهر عند فتح مجلد أو برنامج، يوجد أعلى يمين هذا الإطار 03 أزرار و </a:t>
            </a:r>
            <a:r>
              <a:rPr lang="ar-DZ" sz="3600" b="1" dirty="0" smtClean="0"/>
              <a:t>هي :</a:t>
            </a:r>
          </a:p>
          <a:p>
            <a:pPr marL="457200" indent="-457200" algn="r" rtl="1">
              <a:buFont typeface="Arial" panose="020B0604020202020204" pitchFamily="34" charset="0"/>
              <a:buChar char="•"/>
            </a:pPr>
            <a:r>
              <a:rPr lang="ar-DZ" sz="3600" b="1" dirty="0" smtClean="0"/>
              <a:t>زر الإغلاق</a:t>
            </a:r>
          </a:p>
          <a:p>
            <a:pPr marL="457200" indent="-457200" algn="r" rtl="1">
              <a:buFont typeface="Arial" panose="020B0604020202020204" pitchFamily="34" charset="0"/>
              <a:buChar char="•"/>
            </a:pPr>
            <a:r>
              <a:rPr lang="ar-DZ" sz="3600" b="1" dirty="0" smtClean="0"/>
              <a:t>زر </a:t>
            </a:r>
            <a:r>
              <a:rPr lang="ar-DZ" sz="3600" b="1" dirty="0"/>
              <a:t>التصغير أو </a:t>
            </a:r>
            <a:r>
              <a:rPr lang="ar-DZ" sz="3600" b="1" dirty="0" smtClean="0"/>
              <a:t>التكبير</a:t>
            </a:r>
          </a:p>
          <a:p>
            <a:pPr marL="457200" indent="-457200" algn="r" rtl="1">
              <a:buFont typeface="Arial" panose="020B0604020202020204" pitchFamily="34" charset="0"/>
              <a:buChar char="•"/>
            </a:pPr>
            <a:r>
              <a:rPr lang="ar-DZ" sz="3600" b="1" dirty="0" smtClean="0"/>
              <a:t>زر </a:t>
            </a:r>
            <a:r>
              <a:rPr lang="ar-DZ" sz="3600" b="1" dirty="0"/>
              <a:t>التقليص</a:t>
            </a:r>
          </a:p>
        </p:txBody>
      </p:sp>
      <p:pic>
        <p:nvPicPr>
          <p:cNvPr id="5" name="Image 4"/>
          <p:cNvPicPr/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751067" y="2196219"/>
            <a:ext cx="551146" cy="3632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Image 6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0537" y="2832083"/>
            <a:ext cx="470792" cy="339639"/>
          </a:xfrm>
          <a:prstGeom prst="rect">
            <a:avLst/>
          </a:prstGeom>
        </p:spPr>
      </p:pic>
      <p:pic>
        <p:nvPicPr>
          <p:cNvPr id="8" name="Image 7"/>
          <p:cNvPicPr/>
          <p:nvPr/>
        </p:nvPicPr>
        <p:blipFill rotWithShape="1">
          <a:blip r:embed="rId4"/>
          <a:srcRect l="20083" r="-1"/>
          <a:stretch/>
        </p:blipFill>
        <p:spPr bwMode="auto">
          <a:xfrm>
            <a:off x="8785523" y="3334043"/>
            <a:ext cx="529216" cy="3653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Image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707" y="4067814"/>
            <a:ext cx="5413816" cy="2493319"/>
          </a:xfrm>
          <a:prstGeom prst="rect">
            <a:avLst/>
          </a:prstGeom>
        </p:spPr>
      </p:pic>
      <p:sp>
        <p:nvSpPr>
          <p:cNvPr id="9" name="ZoneTexte 8"/>
          <p:cNvSpPr txBox="1"/>
          <p:nvPr/>
        </p:nvSpPr>
        <p:spPr>
          <a:xfrm>
            <a:off x="7092862" y="133880"/>
            <a:ext cx="4698609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3600" b="1" u="sng" dirty="0">
                <a:solidFill>
                  <a:srgbClr val="00B050"/>
                </a:solidFill>
              </a:rPr>
              <a:t>4 - </a:t>
            </a:r>
            <a:r>
              <a:rPr lang="ar-DZ" sz="4000" b="1" u="sng" dirty="0">
                <a:solidFill>
                  <a:srgbClr val="00B050"/>
                </a:solidFill>
              </a:rPr>
              <a:t>النافذة</a:t>
            </a:r>
            <a:r>
              <a:rPr lang="fr-FR" sz="3600" b="1" u="sng" dirty="0" err="1">
                <a:solidFill>
                  <a:srgbClr val="00B050"/>
                </a:solidFill>
              </a:rPr>
              <a:t>Fentêtre</a:t>
            </a:r>
            <a:r>
              <a:rPr lang="fr-FR" sz="3600" b="1" u="sng" dirty="0">
                <a:solidFill>
                  <a:srgbClr val="00B050"/>
                </a:solidFill>
              </a:rPr>
              <a:t> </a:t>
            </a:r>
            <a:r>
              <a:rPr lang="ar-DZ" sz="3600" b="1" u="sng" dirty="0">
                <a:solidFill>
                  <a:srgbClr val="00B050"/>
                </a:solidFill>
              </a:rPr>
              <a:t> : </a:t>
            </a:r>
          </a:p>
        </p:txBody>
      </p:sp>
    </p:spTree>
    <p:extLst>
      <p:ext uri="{BB962C8B-B14F-4D97-AF65-F5344CB8AC3E}">
        <p14:creationId xmlns:p14="http://schemas.microsoft.com/office/powerpoint/2010/main" val="407690624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0000"/>
                <a:lumOff val="6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829578" y="68787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65760" y="1074337"/>
            <a:ext cx="11425711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3600" b="1" dirty="0">
                <a:cs typeface="+mj-cs"/>
              </a:rPr>
              <a:t>إطار يحتوي على أزرار تسمح بالتحاور مع نظام التشغيل مثل: </a:t>
            </a:r>
            <a:r>
              <a:rPr lang="fr-FR" sz="3600" b="1" dirty="0">
                <a:cs typeface="+mj-cs"/>
              </a:rPr>
              <a:t>oui، non</a:t>
            </a:r>
            <a:r>
              <a:rPr lang="fr-FR" sz="3600" b="1" dirty="0" smtClean="0">
                <a:cs typeface="+mj-cs"/>
              </a:rPr>
              <a:t>،  … Annuler</a:t>
            </a:r>
            <a:endParaRPr lang="ar-DZ" sz="3600" b="1" dirty="0">
              <a:cs typeface="+mj-cs"/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2025748" y="226213"/>
            <a:ext cx="9765723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3600" b="1" u="sng" dirty="0" smtClean="0">
                <a:solidFill>
                  <a:srgbClr val="00B050"/>
                </a:solidFill>
                <a:cs typeface="+mj-cs"/>
              </a:rPr>
              <a:t>5 - علبة الحوار </a:t>
            </a:r>
            <a:r>
              <a:rPr lang="fr-FR" sz="3600" b="1" u="sng" dirty="0" smtClean="0">
                <a:solidFill>
                  <a:srgbClr val="00B050"/>
                </a:solidFill>
                <a:cs typeface="+mj-cs"/>
              </a:rPr>
              <a:t>: Boite </a:t>
            </a:r>
            <a:r>
              <a:rPr lang="fr-FR" sz="3600" b="1" u="sng" dirty="0">
                <a:solidFill>
                  <a:srgbClr val="00B050"/>
                </a:solidFill>
                <a:cs typeface="+mj-cs"/>
              </a:rPr>
              <a:t>de </a:t>
            </a:r>
            <a:r>
              <a:rPr lang="fr-FR" sz="3600" b="1" u="sng" dirty="0" smtClean="0">
                <a:solidFill>
                  <a:srgbClr val="00B050"/>
                </a:solidFill>
                <a:cs typeface="+mj-cs"/>
              </a:rPr>
              <a:t>dialogue</a:t>
            </a:r>
            <a:endParaRPr lang="ar-DZ" sz="3600" b="1" u="sng" dirty="0">
              <a:solidFill>
                <a:srgbClr val="00B050"/>
              </a:solidFill>
              <a:cs typeface="+mj-cs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938" y="3235569"/>
            <a:ext cx="6094104" cy="2602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62812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3471350" y="292952"/>
            <a:ext cx="8362950" cy="76944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4400" b="1" u="sng" dirty="0" smtClean="0">
                <a:solidFill>
                  <a:srgbClr val="FF0000"/>
                </a:solidFill>
              </a:rPr>
              <a:t>تدريب :</a:t>
            </a:r>
            <a:endParaRPr lang="ar-DZ" sz="4400" b="1" u="sng" dirty="0">
              <a:solidFill>
                <a:srgbClr val="FF0000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4378443" y="5839573"/>
            <a:ext cx="745585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3200" dirty="0" smtClean="0"/>
              <a:t>أنجز هذا المخطط باستعمال برنامج </a:t>
            </a:r>
            <a:r>
              <a:rPr lang="fr-FR" sz="3200" dirty="0" err="1" smtClean="0"/>
              <a:t>Paint</a:t>
            </a:r>
            <a:endParaRPr lang="ar-DZ" sz="3200" dirty="0"/>
          </a:p>
        </p:txBody>
      </p:sp>
      <p:sp>
        <p:nvSpPr>
          <p:cNvPr id="6" name="Ellipse 5"/>
          <p:cNvSpPr/>
          <p:nvPr/>
        </p:nvSpPr>
        <p:spPr>
          <a:xfrm>
            <a:off x="4543865" y="2278966"/>
            <a:ext cx="2827606" cy="1561514"/>
          </a:xfrm>
          <a:prstGeom prst="ellipse">
            <a:avLst/>
          </a:prstGeom>
          <a:ln>
            <a:noFill/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  <a:scene3d>
            <a:camera prst="orthographicFront">
              <a:rot lat="0" lon="0" rev="0"/>
            </a:camera>
            <a:lightRig rig="chilly" dir="t">
              <a:rot lat="0" lon="0" rev="18480000"/>
            </a:lightRig>
          </a:scene3d>
          <a:sp3d prstMaterial="clear">
            <a:bevelT h="63500"/>
          </a:sp3d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algn="ctr" rtl="1"/>
            <a:r>
              <a:rPr lang="ar-DZ" sz="3200" b="1" dirty="0" smtClean="0">
                <a:latin typeface="Andalus" panose="02020603050405020304" pitchFamily="18" charset="-78"/>
                <a:cs typeface="+mj-cs"/>
              </a:rPr>
              <a:t>واجهة ال </a:t>
            </a:r>
            <a:r>
              <a:rPr lang="fr-FR" sz="3200" b="1" dirty="0" smtClean="0">
                <a:latin typeface="Andalus" panose="02020603050405020304" pitchFamily="18" charset="-78"/>
                <a:cs typeface="+mj-cs"/>
              </a:rPr>
              <a:t>Windows</a:t>
            </a:r>
            <a:endParaRPr lang="ar-DZ" sz="3200" b="1" dirty="0">
              <a:latin typeface="Andalus" panose="02020603050405020304" pitchFamily="18" charset="-78"/>
              <a:cs typeface="+mj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712677" y="4476597"/>
            <a:ext cx="2489981" cy="6060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ar-DZ" sz="3200" b="1" dirty="0" smtClean="0">
                <a:latin typeface="Bahnschrift" panose="020B0502040204020203" pitchFamily="34" charset="0"/>
                <a:cs typeface="+mj-cs"/>
              </a:rPr>
              <a:t>شريط المهام</a:t>
            </a:r>
            <a:endParaRPr lang="ar-DZ" sz="3200" b="1" dirty="0">
              <a:latin typeface="Bahnschrift" panose="020B0502040204020203" pitchFamily="34" charset="0"/>
              <a:cs typeface="+mj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850464" y="3656879"/>
            <a:ext cx="2489981" cy="6060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ar-DZ" sz="3200" b="1" dirty="0" smtClean="0">
                <a:latin typeface="Bahnschrift" panose="020B0502040204020203" pitchFamily="34" charset="0"/>
                <a:cs typeface="+mj-cs"/>
              </a:rPr>
              <a:t>النافذة</a:t>
            </a:r>
            <a:endParaRPr lang="ar-DZ" sz="3200" b="1" dirty="0">
              <a:latin typeface="Bahnschrift" panose="020B0502040204020203" pitchFamily="34" charset="0"/>
              <a:cs typeface="+mj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510093" y="3537475"/>
            <a:ext cx="2489981" cy="6060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ar-DZ" sz="3200" b="1" dirty="0" smtClean="0">
                <a:latin typeface="Bahnschrift" panose="020B0502040204020203" pitchFamily="34" charset="0"/>
                <a:cs typeface="+mj-cs"/>
              </a:rPr>
              <a:t>الأيقونات</a:t>
            </a:r>
            <a:endParaRPr lang="ar-DZ" sz="3200" b="1" dirty="0">
              <a:latin typeface="Bahnschrift" panose="020B0502040204020203" pitchFamily="34" charset="0"/>
              <a:cs typeface="+mj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053884" y="1541855"/>
            <a:ext cx="2489981" cy="6060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ar-DZ" sz="3200" b="1" dirty="0" smtClean="0">
                <a:latin typeface="Bahnschrift" panose="020B0502040204020203" pitchFamily="34" charset="0"/>
                <a:cs typeface="+mj-cs"/>
              </a:rPr>
              <a:t>علبة الحوار</a:t>
            </a:r>
            <a:endParaRPr lang="ar-DZ" sz="3200" b="1" dirty="0">
              <a:latin typeface="Bahnschrift" panose="020B0502040204020203" pitchFamily="34" charset="0"/>
              <a:cs typeface="+mj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71471" y="1541855"/>
            <a:ext cx="2489981" cy="6060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ar-DZ" sz="3200" b="1" dirty="0" smtClean="0">
                <a:latin typeface="Bahnschrift" panose="020B0502040204020203" pitchFamily="34" charset="0"/>
                <a:cs typeface="+mj-cs"/>
              </a:rPr>
              <a:t>سطح المكتب</a:t>
            </a:r>
            <a:endParaRPr lang="ar-DZ" sz="3200" b="1" dirty="0">
              <a:latin typeface="Bahnschrift" panose="020B0502040204020203" pitchFamily="34" charset="0"/>
              <a:cs typeface="+mj-cs"/>
            </a:endParaRPr>
          </a:p>
        </p:txBody>
      </p:sp>
      <p:cxnSp>
        <p:nvCxnSpPr>
          <p:cNvPr id="17" name="Connecteur droit avec flèche 16"/>
          <p:cNvCxnSpPr>
            <a:stCxn id="6" idx="7"/>
          </p:cNvCxnSpPr>
          <p:nvPr/>
        </p:nvCxnSpPr>
        <p:spPr>
          <a:xfrm flipV="1">
            <a:off x="6957378" y="2147864"/>
            <a:ext cx="414093" cy="3597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Connecteur droit avec flèche 18"/>
          <p:cNvCxnSpPr>
            <a:stCxn id="6" idx="5"/>
            <a:endCxn id="13" idx="1"/>
          </p:cNvCxnSpPr>
          <p:nvPr/>
        </p:nvCxnSpPr>
        <p:spPr>
          <a:xfrm>
            <a:off x="6957378" y="3611802"/>
            <a:ext cx="552715" cy="22867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Connecteur droit avec flèche 19"/>
          <p:cNvCxnSpPr/>
          <p:nvPr/>
        </p:nvCxnSpPr>
        <p:spPr>
          <a:xfrm flipH="1" flipV="1">
            <a:off x="4543865" y="2178263"/>
            <a:ext cx="329152" cy="36846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Connecteur droit avec flèche 20"/>
          <p:cNvCxnSpPr>
            <a:endCxn id="10" idx="0"/>
          </p:cNvCxnSpPr>
          <p:nvPr/>
        </p:nvCxnSpPr>
        <p:spPr>
          <a:xfrm>
            <a:off x="5956904" y="3840480"/>
            <a:ext cx="764" cy="6361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Connecteur droit avec flèche 24"/>
          <p:cNvCxnSpPr/>
          <p:nvPr/>
        </p:nvCxnSpPr>
        <p:spPr>
          <a:xfrm flipH="1">
            <a:off x="4340445" y="3385301"/>
            <a:ext cx="372233" cy="27157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20951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2" grpId="0" animBg="1"/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</TotalTime>
  <Words>189</Words>
  <Application>Microsoft Office PowerPoint</Application>
  <PresentationFormat>Grand écran</PresentationFormat>
  <Paragraphs>36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5" baseType="lpstr">
      <vt:lpstr>Andalus</vt:lpstr>
      <vt:lpstr>Arial</vt:lpstr>
      <vt:lpstr>Bahnschrift</vt:lpstr>
      <vt:lpstr>Calibri</vt:lpstr>
      <vt:lpstr>Calibri Light</vt:lpstr>
      <vt:lpstr>Times New Roman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Compte Microsoft</cp:lastModifiedBy>
  <cp:revision>190</cp:revision>
  <dcterms:created xsi:type="dcterms:W3CDTF">2024-02-06T22:26:16Z</dcterms:created>
  <dcterms:modified xsi:type="dcterms:W3CDTF">2025-01-20T16:08:05Z</dcterms:modified>
</cp:coreProperties>
</file>