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2" r:id="rId4"/>
    <p:sldId id="265" r:id="rId5"/>
    <p:sldId id="261" r:id="rId6"/>
    <p:sldId id="264" r:id="rId7"/>
    <p:sldId id="259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6" d="100"/>
          <a:sy n="76" d="100"/>
        </p:scale>
        <p:origin x="49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241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388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406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557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008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461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1213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2540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4859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656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1495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864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467544" y="620688"/>
            <a:ext cx="11269344" cy="207588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lnSpc>
                <a:spcPct val="107000"/>
              </a:lnSpc>
              <a:spcAft>
                <a:spcPts val="800"/>
              </a:spcAft>
            </a:pPr>
            <a:r>
              <a:rPr lang="ar-SA" sz="3600" b="1" u="sng" dirty="0">
                <a:solidFill>
                  <a:srgbClr val="00B0F0"/>
                </a:solidFill>
              </a:rPr>
              <a:t>تغذية راجعة </a:t>
            </a:r>
            <a:r>
              <a:rPr lang="ar-SA" sz="3600" b="1" u="sng" dirty="0" smtClean="0">
                <a:solidFill>
                  <a:srgbClr val="00B0F0"/>
                </a:solidFill>
              </a:rPr>
              <a:t>:</a:t>
            </a:r>
            <a:endParaRPr lang="ar-DZ" sz="3600" b="1" u="sng" dirty="0" smtClean="0">
              <a:solidFill>
                <a:srgbClr val="00B0F0"/>
              </a:solidFill>
            </a:endParaRPr>
          </a:p>
          <a:p>
            <a:pPr algn="r" rtl="1">
              <a:lnSpc>
                <a:spcPct val="107000"/>
              </a:lnSpc>
              <a:spcAft>
                <a:spcPts val="800"/>
              </a:spcAft>
            </a:pPr>
            <a:endParaRPr lang="fr-FR" sz="3600" b="1" u="sng" dirty="0" smtClean="0">
              <a:solidFill>
                <a:srgbClr val="00B0F0"/>
              </a:solidFill>
            </a:endParaRPr>
          </a:p>
          <a:p>
            <a:pPr marL="571500" lvl="0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Ø"/>
            </a:pPr>
            <a:r>
              <a:rPr lang="ar-SA" sz="3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ما هي مختلف عناصر الواجهة التي رأيناها سابقا </a:t>
            </a:r>
            <a:r>
              <a:rPr lang="ar-SA" sz="36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؟</a:t>
            </a:r>
            <a:endParaRPr lang="ar-DZ" sz="3600" dirty="0" smtClean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467544" y="2981194"/>
            <a:ext cx="11269344" cy="6451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1028700" lvl="1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ar-DZ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سطح </a:t>
            </a:r>
            <a:r>
              <a:rPr lang="ar-DZ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المكتب</a:t>
            </a:r>
            <a:r>
              <a:rPr lang="en-US" sz="1600" dirty="0" smtClean="0"/>
              <a:t> </a:t>
            </a:r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ZoneTexte 2"/>
          <p:cNvSpPr txBox="1"/>
          <p:nvPr/>
        </p:nvSpPr>
        <p:spPr>
          <a:xfrm>
            <a:off x="7490564" y="3626307"/>
            <a:ext cx="4246324" cy="6451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1028700" lvl="1" indent="-571500" algn="r" rtl="1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ü"/>
            </a:pPr>
            <a:r>
              <a:rPr lang="ar-DZ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الأيقونات</a:t>
            </a:r>
            <a:endParaRPr lang="ar-DZ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3895595" y="4270202"/>
            <a:ext cx="7841293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1028700" lvl="2" indent="-571500" algn="r" rtl="1">
              <a:buFont typeface="Wingdings" panose="05000000000000000000" pitchFamily="2" charset="2"/>
              <a:buChar char="ü"/>
            </a:pPr>
            <a:r>
              <a:rPr lang="ar-DZ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شريط </a:t>
            </a:r>
            <a:r>
              <a:rPr lang="ar-DZ" sz="3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المهام</a:t>
            </a:r>
            <a:endParaRPr lang="ar-DZ" dirty="0"/>
          </a:p>
        </p:txBody>
      </p:sp>
    </p:spTree>
    <p:extLst>
      <p:ext uri="{BB962C8B-B14F-4D97-AF65-F5344CB8AC3E}">
        <p14:creationId xmlns:p14="http://schemas.microsoft.com/office/powerpoint/2010/main" val="187779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oneTexte 8"/>
          <p:cNvSpPr txBox="1"/>
          <p:nvPr/>
        </p:nvSpPr>
        <p:spPr>
          <a:xfrm>
            <a:off x="400831" y="307796"/>
            <a:ext cx="11398685" cy="76944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ar-DZ" sz="4400" b="1" u="sng" dirty="0" smtClean="0">
                <a:solidFill>
                  <a:srgbClr val="00B050"/>
                </a:solidFill>
              </a:rPr>
              <a:t>الوضعية</a:t>
            </a:r>
            <a:r>
              <a:rPr lang="ar-DZ" sz="4400" u="sng" dirty="0" smtClean="0">
                <a:solidFill>
                  <a:srgbClr val="00B050"/>
                </a:solidFill>
              </a:rPr>
              <a:t> </a:t>
            </a:r>
            <a:r>
              <a:rPr lang="ar-DZ" sz="4400" b="1" u="sng" dirty="0" err="1" smtClean="0">
                <a:solidFill>
                  <a:srgbClr val="00B050"/>
                </a:solidFill>
              </a:rPr>
              <a:t>الإنطلاقية</a:t>
            </a:r>
            <a:endParaRPr lang="ar-DZ" sz="4400" b="1" u="sng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400831" y="2057633"/>
            <a:ext cx="11285952" cy="120032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642938" indent="-642938" algn="r" rtl="1">
              <a:buFont typeface="Wingdings" panose="05000000000000000000" pitchFamily="2" charset="2"/>
              <a:buChar char="Ø"/>
            </a:pPr>
            <a:r>
              <a:rPr lang="ar-DZ" sz="3600" dirty="0"/>
              <a:t>رأينا في الحصة الماضية العناصر الثلاثة لواجهة الـ </a:t>
            </a:r>
            <a:r>
              <a:rPr lang="fr-FR" sz="3600" dirty="0"/>
              <a:t>Windows</a:t>
            </a:r>
            <a:r>
              <a:rPr lang="ar-DZ" sz="3600" dirty="0"/>
              <a:t> التي تظهر على الشاشة. و لكن يا ترى هل هناك عناصر أخرى مخفية ؟</a:t>
            </a:r>
            <a:endParaRPr lang="ar-DZ" sz="3300" dirty="0"/>
          </a:p>
        </p:txBody>
      </p:sp>
    </p:spTree>
    <p:extLst>
      <p:ext uri="{BB962C8B-B14F-4D97-AF65-F5344CB8AC3E}">
        <p14:creationId xmlns:p14="http://schemas.microsoft.com/office/powerpoint/2010/main" val="23460686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375781" y="78747"/>
            <a:ext cx="11511419" cy="6227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u="sng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نشاط :</a:t>
            </a:r>
            <a:endParaRPr lang="fr-FR" sz="3200" dirty="0"/>
          </a:p>
        </p:txBody>
      </p:sp>
      <p:sp>
        <p:nvSpPr>
          <p:cNvPr id="19" name="ZoneTexte 18"/>
          <p:cNvSpPr txBox="1"/>
          <p:nvPr/>
        </p:nvSpPr>
        <p:spPr>
          <a:xfrm>
            <a:off x="538619" y="1327760"/>
            <a:ext cx="11348581" cy="403187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قم </a:t>
            </a:r>
            <a:r>
              <a:rPr lang="ar-DZ" sz="3200" dirty="0"/>
              <a:t>بفتح </a:t>
            </a:r>
            <a:r>
              <a:rPr lang="ar-DZ" sz="3200" dirty="0" smtClean="0"/>
              <a:t>أيقونة </a:t>
            </a:r>
            <a:r>
              <a:rPr lang="fr-FR" sz="3200" dirty="0" smtClean="0"/>
              <a:t>Ce </a:t>
            </a:r>
            <a:r>
              <a:rPr lang="fr-FR" sz="3200" dirty="0"/>
              <a:t>PC </a:t>
            </a:r>
            <a:r>
              <a:rPr lang="fr-FR" sz="3200" dirty="0" smtClean="0"/>
              <a:t>، </a:t>
            </a:r>
            <a:r>
              <a:rPr lang="ar-DZ" sz="3200" dirty="0" smtClean="0"/>
              <a:t>و تمعن فيها جيّدا.</a:t>
            </a:r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اضغط </a:t>
            </a:r>
            <a:r>
              <a:rPr lang="ar-DZ" sz="3200" dirty="0"/>
              <a:t>على زر التكبير أكثر من </a:t>
            </a:r>
            <a:r>
              <a:rPr lang="ar-DZ" sz="3200" dirty="0" smtClean="0"/>
              <a:t>مرّة.</a:t>
            </a:r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 اضغط </a:t>
            </a:r>
            <a:r>
              <a:rPr lang="ar-DZ" sz="3200" dirty="0"/>
              <a:t>على زر التقليص و </a:t>
            </a:r>
            <a:r>
              <a:rPr lang="ar-DZ" sz="3200" dirty="0" smtClean="0"/>
              <a:t>لاحظ </a:t>
            </a:r>
            <a:r>
              <a:rPr lang="ar-DZ" sz="3200" dirty="0"/>
              <a:t>ما </a:t>
            </a:r>
            <a:r>
              <a:rPr lang="ar-DZ" sz="3200" dirty="0" smtClean="0"/>
              <a:t>يحدث</a:t>
            </a:r>
            <a:r>
              <a:rPr lang="ar-DZ" sz="3200" dirty="0"/>
              <a:t>.</a:t>
            </a:r>
            <a:endParaRPr lang="ar-DZ" sz="3200" dirty="0" smtClean="0"/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اعد </a:t>
            </a:r>
            <a:r>
              <a:rPr lang="ar-DZ" sz="3200" dirty="0"/>
              <a:t>إظهار النافذة عبر شريط المهام، ا</a:t>
            </a:r>
            <a:r>
              <a:rPr lang="ar-DZ" sz="3200" dirty="0" smtClean="0"/>
              <a:t>ضغط </a:t>
            </a:r>
            <a:r>
              <a:rPr lang="ar-DZ" sz="3200" dirty="0"/>
              <a:t>على زر </a:t>
            </a:r>
            <a:r>
              <a:rPr lang="ar-DZ" sz="3200" dirty="0" smtClean="0"/>
              <a:t>الغلق.</a:t>
            </a:r>
          </a:p>
          <a:p>
            <a:pPr algn="r" rtl="1"/>
            <a:endParaRPr lang="ar-DZ" sz="3200" dirty="0" smtClean="0"/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 قم بفتح برنامج </a:t>
            </a:r>
            <a:r>
              <a:rPr lang="fr-FR" sz="3200" dirty="0" err="1" smtClean="0"/>
              <a:t>Paint</a:t>
            </a:r>
            <a:r>
              <a:rPr lang="fr-FR" sz="3200" dirty="0" smtClean="0"/>
              <a:t> </a:t>
            </a:r>
            <a:r>
              <a:rPr lang="ar-DZ" sz="3200" dirty="0" smtClean="0"/>
              <a:t> و إنشاء رسم بسيط لأحد مكونات الحاسوب.</a:t>
            </a:r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اضغط على زر الغلق.</a:t>
            </a:r>
          </a:p>
          <a:p>
            <a:pPr marL="457200" indent="-457200" algn="r" rtl="1">
              <a:buFont typeface="Wingdings" panose="05000000000000000000" pitchFamily="2" charset="2"/>
              <a:buChar char="Ø"/>
            </a:pPr>
            <a:r>
              <a:rPr lang="ar-DZ" sz="3200" dirty="0" smtClean="0"/>
              <a:t> تمعّن جيّدا في الإطار الذي خرج.</a:t>
            </a:r>
          </a:p>
        </p:txBody>
      </p:sp>
    </p:spTree>
    <p:extLst>
      <p:ext uri="{BB962C8B-B14F-4D97-AF65-F5344CB8AC3E}">
        <p14:creationId xmlns:p14="http://schemas.microsoft.com/office/powerpoint/2010/main" val="22176131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375781" y="78747"/>
            <a:ext cx="11511419" cy="6227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u="sng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نشاط :</a:t>
            </a:r>
            <a:endParaRPr lang="fr-FR" sz="3200" dirty="0"/>
          </a:p>
        </p:txBody>
      </p:sp>
      <p:pic>
        <p:nvPicPr>
          <p:cNvPr id="3" name="Image 2"/>
          <p:cNvPicPr/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15233" y="78747"/>
            <a:ext cx="8317282" cy="3691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Image 3"/>
          <p:cNvPicPr/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803451" y="3970750"/>
            <a:ext cx="5526357" cy="26803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6" name="Connecteur droit avec flèche 5"/>
          <p:cNvCxnSpPr/>
          <p:nvPr/>
        </p:nvCxnSpPr>
        <p:spPr>
          <a:xfrm flipH="1">
            <a:off x="4196219" y="1691014"/>
            <a:ext cx="3695178" cy="24676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Connecteur droit avec flèche 7"/>
          <p:cNvCxnSpPr/>
          <p:nvPr/>
        </p:nvCxnSpPr>
        <p:spPr>
          <a:xfrm>
            <a:off x="6131490" y="1691014"/>
            <a:ext cx="1008346" cy="227973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Connecteur droit avec flèche 9"/>
          <p:cNvCxnSpPr/>
          <p:nvPr/>
        </p:nvCxnSpPr>
        <p:spPr>
          <a:xfrm>
            <a:off x="3795386" y="1578279"/>
            <a:ext cx="187891" cy="38580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Connecteur droit avec flèche 11"/>
          <p:cNvCxnSpPr/>
          <p:nvPr/>
        </p:nvCxnSpPr>
        <p:spPr>
          <a:xfrm flipH="1">
            <a:off x="6801633" y="3394553"/>
            <a:ext cx="1202499" cy="204174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Connecteur droit avec flèche 17"/>
          <p:cNvCxnSpPr/>
          <p:nvPr/>
        </p:nvCxnSpPr>
        <p:spPr>
          <a:xfrm>
            <a:off x="4196219" y="3256767"/>
            <a:ext cx="1077239" cy="90187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31078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829578" y="68787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1" y="218053"/>
            <a:ext cx="10439400" cy="5917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0624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829578" y="68787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237" y="371410"/>
            <a:ext cx="11227495" cy="349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35264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1693" y="1204064"/>
            <a:ext cx="8278995" cy="4767400"/>
          </a:xfrm>
          <a:prstGeom prst="rect">
            <a:avLst/>
          </a:prstGeom>
        </p:spPr>
      </p:pic>
      <p:sp>
        <p:nvSpPr>
          <p:cNvPr id="4" name="ZoneTexte 3"/>
          <p:cNvSpPr txBox="1"/>
          <p:nvPr/>
        </p:nvSpPr>
        <p:spPr>
          <a:xfrm>
            <a:off x="3276600" y="571500"/>
            <a:ext cx="8362950" cy="76944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4400" b="1" u="sng" dirty="0" smtClean="0">
                <a:solidFill>
                  <a:srgbClr val="FF0000"/>
                </a:solidFill>
              </a:rPr>
              <a:t>تدريب :</a:t>
            </a:r>
            <a:endParaRPr lang="ar-DZ" sz="4400" b="1" u="sng" dirty="0">
              <a:solidFill>
                <a:srgbClr val="FF0000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4283902" y="6150279"/>
            <a:ext cx="745585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3200" dirty="0" smtClean="0"/>
              <a:t>أنجز هذا المخطط باستعمال برنامج </a:t>
            </a:r>
            <a:r>
              <a:rPr lang="fr-FR" sz="3200" dirty="0" err="1" smtClean="0"/>
              <a:t>Paint</a:t>
            </a:r>
            <a:endParaRPr lang="ar-DZ" sz="3200" dirty="0"/>
          </a:p>
        </p:txBody>
      </p:sp>
    </p:spTree>
    <p:extLst>
      <p:ext uri="{BB962C8B-B14F-4D97-AF65-F5344CB8AC3E}">
        <p14:creationId xmlns:p14="http://schemas.microsoft.com/office/powerpoint/2010/main" val="160320951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</TotalTime>
  <Words>122</Words>
  <Application>Microsoft Office PowerPoint</Application>
  <PresentationFormat>Grand écran</PresentationFormat>
  <Paragraphs>20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Compte Microsoft</cp:lastModifiedBy>
  <cp:revision>116</cp:revision>
  <dcterms:created xsi:type="dcterms:W3CDTF">2024-02-06T22:26:16Z</dcterms:created>
  <dcterms:modified xsi:type="dcterms:W3CDTF">2025-01-14T17:05:53Z</dcterms:modified>
</cp:coreProperties>
</file>